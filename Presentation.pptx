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Montserrat"/>
      <p:regular r:id="rId23"/>
      <p:bold r:id="rId24"/>
      <p:italic r:id="rId25"/>
      <p:boldItalic r:id="rId26"/>
    </p:embeddedFont>
    <p:embeddedFont>
      <p:font typeface="Atkinson Hyperlegibl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1A2A1E-309B-48B8-9EE2-45F2411D3D53}">
  <a:tblStyle styleId="{FA1A2A1E-309B-48B8-9EE2-45F2411D3D53}"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94523B5-A34C-4306-8460-BE439DEF8E0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AtkinsonHyperlegible-bold.fntdata"/><Relationship Id="rId27" Type="http://schemas.openxmlformats.org/officeDocument/2006/relationships/font" Target="fonts/AtkinsonHyperlegibl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tkinsonHyperlegible-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AtkinsonHyperlegible-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95be34f4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195be34f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95be34f4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95be34f4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95be34f4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95be34f4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95be34f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195be34f4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195be34f4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195be34f4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95be34f4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195be34f4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95be34f4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95be34f4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95be34f4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195be34f4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95be34f4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95be34f4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95be34f4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95be34f4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95be34f4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95be34f4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95be34f4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195be34f4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95be34f4e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95be34f4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95be34f4e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195be34f4e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95be34f4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195be34f4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rive.google.com/file/d/1D1RX2675ZWgRrgz7pBavFn9Sw_eKhBsH/view?usp=sharing" TargetMode="External"/><Relationship Id="rId4" Type="http://schemas.openxmlformats.org/officeDocument/2006/relationships/hyperlink" Target="https://drive.google.com/file/d/1HQclHvptY0uWXF2ANVK_NqOmLyfnNy51/view?usp=sharing" TargetMode="External"/><Relationship Id="rId5" Type="http://schemas.openxmlformats.org/officeDocument/2006/relationships/hyperlink" Target="https://drive.google.com/file/d/1ZtcrrT5Jb0MdaiTtiK01iXvhQp-mNYiU/view?usp=sharing" TargetMode="External"/><Relationship Id="rId6" Type="http://schemas.openxmlformats.org/officeDocument/2006/relationships/hyperlink" Target="https://drive.google.com/file/d/1BctVt6FEdGSNZj_nWTpf3Df-1hQHsuiG/view?usp=sharing" TargetMode="External"/><Relationship Id="rId7" Type="http://schemas.openxmlformats.org/officeDocument/2006/relationships/hyperlink" Target="https://drive.google.com/file/d/1BctVt6FEdGSNZj_nWTpf3Df-1hQHsuiG/view?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rive.google.com/file/d/1EZuQWYk3FATOe0QnfKoQsHztw8e1e2O4/view?usp=sharing" TargetMode="External"/><Relationship Id="rId4" Type="http://schemas.openxmlformats.org/officeDocument/2006/relationships/hyperlink" Target="https://drive.google.com/file/d/1WmXc8VSgJGidmmx-KfdNIpLsdI3C6liT/view?usp=sharing" TargetMode="External"/><Relationship Id="rId5" Type="http://schemas.openxmlformats.org/officeDocument/2006/relationships/hyperlink" Target="https://drive.google.com/file/d/1iUBEKZyaF_UNqtZkTfNdKGn9N5_wqLu6/view?usp=sharing" TargetMode="External"/><Relationship Id="rId6" Type="http://schemas.openxmlformats.org/officeDocument/2006/relationships/hyperlink" Target="https://drive.google.com/file/d/1wDxH8_jqt821eqDbgq4xDLEEGzZbela5/view?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drive.google.com/file/d/1CZI8vdqU2i16mEK_5JtZZjkodyfdoAOq/view" TargetMode="External"/><Relationship Id="rId4" Type="http://schemas.openxmlformats.org/officeDocument/2006/relationships/image" Target="../media/image1.png"/><Relationship Id="rId5" Type="http://schemas.openxmlformats.org/officeDocument/2006/relationships/hyperlink" Target="http://drive.google.com/file/d/1jhy4JfjaYefvjCp2JDfIvRUSIe1qWDLb/view" TargetMode="External"/><Relationship Id="rId6" Type="http://schemas.openxmlformats.org/officeDocument/2006/relationships/hyperlink" Target="http://drive.google.com/file/d/16SSRv9uABWCHyw6TP5tFlarTmy-z9VEX/view" TargetMode="External"/><Relationship Id="rId7" Type="http://schemas.openxmlformats.org/officeDocument/2006/relationships/hyperlink" Target="http://drive.google.com/file/d/1Ts73Y15xF4E7HgYqO4t4AQQGxQEYp3l6/view"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drive.google.com/file/d/1S9JDZNbxgldHRw7gYPnanNMHjNMLCRTb/view" TargetMode="External"/><Relationship Id="rId4" Type="http://schemas.openxmlformats.org/officeDocument/2006/relationships/image" Target="../media/image1.png"/><Relationship Id="rId5" Type="http://schemas.openxmlformats.org/officeDocument/2006/relationships/hyperlink" Target="http://drive.google.com/file/d/1l4ZhLSgkMjki2zw4slcBCCp7Ykg-nNec/view" TargetMode="External"/><Relationship Id="rId6" Type="http://schemas.openxmlformats.org/officeDocument/2006/relationships/hyperlink" Target="http://drive.google.com/file/d/1KBE6Y6WEl_O3M21aMBAJZuuzmpqSDk76/view" TargetMode="External"/><Relationship Id="rId7" Type="http://schemas.openxmlformats.org/officeDocument/2006/relationships/hyperlink" Target="http://drive.google.com/file/d/1ZIIQQEox7uou8y8-yLsZ8MNdizSpL4W3/view" TargetMode="External"/><Relationship Id="rId8" Type="http://schemas.openxmlformats.org/officeDocument/2006/relationships/hyperlink" Target="http://drive.google.com/file/d/1dHhyoK1K3mWVh9HZZw5-mZXftLFkJLfB/vie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drive.google.com/file/d/1EsBxopMrzMoTeBlKKQXxAHoQBNXUmM5G/view" TargetMode="External"/><Relationship Id="rId4" Type="http://schemas.openxmlformats.org/officeDocument/2006/relationships/image" Target="../media/image1.png"/><Relationship Id="rId5" Type="http://schemas.openxmlformats.org/officeDocument/2006/relationships/hyperlink" Target="http://drive.google.com/file/d/1c3prkOwcCj60JlOo0iFn2KQwriMQGYn3/view" TargetMode="External"/><Relationship Id="rId6" Type="http://schemas.openxmlformats.org/officeDocument/2006/relationships/hyperlink" Target="http://drive.google.com/file/d/1ZDOSfeSx0aj0Yopn3MFEfyhk9GIRWdq1/view" TargetMode="External"/><Relationship Id="rId7" Type="http://schemas.openxmlformats.org/officeDocument/2006/relationships/hyperlink" Target="http://drive.google.com/file/d/1C9333HHweese0a4AEUZ1BBilovTGailE/vie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drive.google.com/file/d/1prQE3caP8j1byYRD80EwzkiLRGuRPMTH/view" TargetMode="External"/><Relationship Id="rId4" Type="http://schemas.openxmlformats.org/officeDocument/2006/relationships/image" Target="../media/image1.png"/><Relationship Id="rId5" Type="http://schemas.openxmlformats.org/officeDocument/2006/relationships/hyperlink" Target="http://drive.google.com/file/d/1N_vPvBOCC62eMEu2zs1AoRz5Pa-vtW7l/view" TargetMode="External"/><Relationship Id="rId6" Type="http://schemas.openxmlformats.org/officeDocument/2006/relationships/hyperlink" Target="http://drive.google.com/file/d/103nKxKBS3ItndBv8PR6h0viXxQjV3PAK/view" TargetMode="External"/><Relationship Id="rId7" Type="http://schemas.openxmlformats.org/officeDocument/2006/relationships/hyperlink" Target="http://drive.google.com/file/d/1wCogXrjayShk_2G0hNAspWgveQAuVLoK/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drive.google.com/drive/folders/1EKngjynUza_3A8x-02l0TIQavxZg33mu?usp=drive_link" TargetMode="External"/><Relationship Id="rId4" Type="http://schemas.openxmlformats.org/officeDocument/2006/relationships/hyperlink" Target="https://huggingface.co/En1gma0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53" name="Shape 53"/>
        <p:cNvGrpSpPr/>
        <p:nvPr/>
      </p:nvGrpSpPr>
      <p:grpSpPr>
        <a:xfrm>
          <a:off x="0" y="0"/>
          <a:ext cx="0" cy="0"/>
          <a:chOff x="0" y="0"/>
          <a:chExt cx="0" cy="0"/>
        </a:xfrm>
      </p:grpSpPr>
      <p:sp>
        <p:nvSpPr>
          <p:cNvPr id="54" name="Google Shape;54;p13"/>
          <p:cNvSpPr/>
          <p:nvPr/>
        </p:nvSpPr>
        <p:spPr>
          <a:xfrm>
            <a:off x="0" y="0"/>
            <a:ext cx="32013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3201300" y="2083725"/>
            <a:ext cx="5942700" cy="293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4000">
                <a:solidFill>
                  <a:schemeClr val="lt2"/>
                </a:solidFill>
                <a:latin typeface="Montserrat"/>
                <a:ea typeface="Montserrat"/>
                <a:cs typeface="Montserrat"/>
                <a:sym typeface="Montserrat"/>
              </a:rPr>
              <a:t>Optimization in Multilingual TTS for </a:t>
            </a:r>
            <a:r>
              <a:rPr lang="en-GB" sz="4000">
                <a:solidFill>
                  <a:schemeClr val="lt2"/>
                </a:solidFill>
                <a:latin typeface="Montserrat"/>
                <a:ea typeface="Montserrat"/>
                <a:cs typeface="Montserrat"/>
                <a:sym typeface="Montserrat"/>
              </a:rPr>
              <a:t>Accent &amp; Emotions</a:t>
            </a:r>
            <a:endParaRPr i="1" sz="4000">
              <a:solidFill>
                <a:schemeClr val="lt2"/>
              </a:solidFill>
              <a:latin typeface="Montserrat"/>
              <a:ea typeface="Montserrat"/>
              <a:cs typeface="Montserrat"/>
              <a:sym typeface="Montserrat"/>
            </a:endParaRPr>
          </a:p>
        </p:txBody>
      </p:sp>
      <p:sp>
        <p:nvSpPr>
          <p:cNvPr id="56" name="Google Shape;56;p13"/>
          <p:cNvSpPr txBox="1"/>
          <p:nvPr/>
        </p:nvSpPr>
        <p:spPr>
          <a:xfrm>
            <a:off x="75" y="785825"/>
            <a:ext cx="3201300" cy="435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b="1" lang="en-GB" sz="1600">
                <a:solidFill>
                  <a:schemeClr val="dk1"/>
                </a:solidFill>
                <a:latin typeface="Atkinson Hyperlegible"/>
                <a:ea typeface="Atkinson Hyperlegible"/>
                <a:cs typeface="Atkinson Hyperlegible"/>
                <a:sym typeface="Atkinson Hyperlegible"/>
              </a:rPr>
              <a:t>DataKraft Corps.</a:t>
            </a:r>
            <a:endParaRPr b="1"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br>
              <a:rPr lang="en-GB" sz="1600" u="sng">
                <a:solidFill>
                  <a:schemeClr val="dk1"/>
                </a:solidFill>
                <a:latin typeface="Atkinson Hyperlegible"/>
                <a:ea typeface="Atkinson Hyperlegible"/>
                <a:cs typeface="Atkinson Hyperlegible"/>
                <a:sym typeface="Atkinson Hyperlegible"/>
              </a:rPr>
            </a:br>
            <a:r>
              <a:rPr lang="en-GB" sz="1600">
                <a:solidFill>
                  <a:schemeClr val="dk1"/>
                </a:solidFill>
                <a:latin typeface="Atkinson Hyperlegible"/>
                <a:ea typeface="Atkinson Hyperlegible"/>
                <a:cs typeface="Atkinson Hyperlegible"/>
                <a:sym typeface="Atkinson Hyperlegible"/>
              </a:rPr>
              <a:t>Akshansh Dwivedi </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lang="en-GB" sz="1600">
                <a:solidFill>
                  <a:schemeClr val="dk1"/>
                </a:solidFill>
                <a:latin typeface="Atkinson Hyperlegible"/>
                <a:ea typeface="Atkinson Hyperlegible"/>
                <a:cs typeface="Atkinson Hyperlegible"/>
                <a:sym typeface="Atkinson Hyperlegible"/>
              </a:rPr>
              <a:t>(60018220103) </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t/>
            </a:r>
            <a:endParaRPr sz="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Clr>
                <a:schemeClr val="dk1"/>
              </a:buClr>
              <a:buSzPts val="1100"/>
              <a:buFont typeface="Arial"/>
              <a:buNone/>
            </a:pPr>
            <a:r>
              <a:rPr lang="en-GB" sz="1600">
                <a:solidFill>
                  <a:schemeClr val="dk1"/>
                </a:solidFill>
                <a:latin typeface="Atkinson Hyperlegible"/>
                <a:ea typeface="Atkinson Hyperlegible"/>
                <a:cs typeface="Atkinson Hyperlegible"/>
                <a:sym typeface="Atkinson Hyperlegible"/>
              </a:rPr>
              <a:t>Bhavvya Jain </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lang="en-GB" sz="1600">
                <a:solidFill>
                  <a:schemeClr val="dk1"/>
                </a:solidFill>
                <a:latin typeface="Atkinson Hyperlegible"/>
                <a:ea typeface="Atkinson Hyperlegible"/>
                <a:cs typeface="Atkinson Hyperlegible"/>
                <a:sym typeface="Atkinson Hyperlegible"/>
              </a:rPr>
              <a:t>(60018220108)</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Clr>
                <a:schemeClr val="dk1"/>
              </a:buClr>
              <a:buSzPts val="1100"/>
              <a:buFont typeface="Arial"/>
              <a:buNone/>
            </a:pPr>
            <a:r>
              <a:t/>
            </a:r>
            <a:endParaRPr sz="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lang="en-GB" sz="1600">
                <a:solidFill>
                  <a:schemeClr val="dk1"/>
                </a:solidFill>
                <a:latin typeface="Atkinson Hyperlegible"/>
                <a:ea typeface="Atkinson Hyperlegible"/>
                <a:cs typeface="Atkinson Hyperlegible"/>
                <a:sym typeface="Atkinson Hyperlegible"/>
              </a:rPr>
              <a:t>Pranav Pawar </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lang="en-GB" sz="1600">
                <a:solidFill>
                  <a:schemeClr val="dk1"/>
                </a:solidFill>
                <a:latin typeface="Atkinson Hyperlegible"/>
                <a:ea typeface="Atkinson Hyperlegible"/>
                <a:cs typeface="Atkinson Hyperlegible"/>
                <a:sym typeface="Atkinson Hyperlegible"/>
              </a:rPr>
              <a:t>(60018220032)</a:t>
            </a:r>
            <a:endParaRPr sz="1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t/>
            </a:r>
            <a:endParaRPr sz="600">
              <a:solidFill>
                <a:schemeClr val="dk1"/>
              </a:solidFill>
              <a:latin typeface="Atkinson Hyperlegible"/>
              <a:ea typeface="Atkinson Hyperlegible"/>
              <a:cs typeface="Atkinson Hyperlegible"/>
              <a:sym typeface="Atkinson Hyperlegible"/>
            </a:endParaRPr>
          </a:p>
          <a:p>
            <a:pPr indent="0" lvl="0" marL="0" rtl="0" algn="ctr">
              <a:spcBef>
                <a:spcPts val="0"/>
              </a:spcBef>
              <a:spcAft>
                <a:spcPts val="0"/>
              </a:spcAft>
              <a:buNone/>
            </a:pPr>
            <a:r>
              <a:rPr lang="en-GB" sz="1600">
                <a:solidFill>
                  <a:schemeClr val="dk1"/>
                </a:solidFill>
                <a:latin typeface="Atkinson Hyperlegible"/>
                <a:ea typeface="Atkinson Hyperlegible"/>
                <a:cs typeface="Atkinson Hyperlegible"/>
                <a:sym typeface="Atkinson Hyperlegible"/>
              </a:rPr>
              <a:t>Rajvardhan Singh Chib (60018230106)</a:t>
            </a:r>
            <a:endParaRPr sz="1600">
              <a:solidFill>
                <a:schemeClr val="dk1"/>
              </a:solidFill>
              <a:latin typeface="Atkinson Hyperlegible"/>
              <a:ea typeface="Atkinson Hyperlegible"/>
              <a:cs typeface="Atkinson Hyperlegible"/>
              <a:sym typeface="Atkinson Hyperlegible"/>
            </a:endParaRPr>
          </a:p>
        </p:txBody>
      </p:sp>
      <p:sp>
        <p:nvSpPr>
          <p:cNvPr id="57" name="Google Shape;57;p13"/>
          <p:cNvSpPr txBox="1"/>
          <p:nvPr/>
        </p:nvSpPr>
        <p:spPr>
          <a:xfrm>
            <a:off x="3201300" y="361650"/>
            <a:ext cx="59427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4000">
                <a:solidFill>
                  <a:schemeClr val="lt2"/>
                </a:solidFill>
              </a:rPr>
              <a:t>I</a:t>
            </a:r>
            <a:r>
              <a:rPr lang="en-GB" sz="4000">
                <a:solidFill>
                  <a:schemeClr val="lt2"/>
                </a:solidFill>
              </a:rPr>
              <a:t>nnovative </a:t>
            </a:r>
            <a:r>
              <a:rPr b="1" lang="en-GB" sz="4000">
                <a:solidFill>
                  <a:schemeClr val="lt2"/>
                </a:solidFill>
              </a:rPr>
              <a:t>P</a:t>
            </a:r>
            <a:r>
              <a:rPr lang="en-GB" sz="4000">
                <a:solidFill>
                  <a:schemeClr val="lt2"/>
                </a:solidFill>
              </a:rPr>
              <a:t>roduct </a:t>
            </a:r>
            <a:r>
              <a:rPr b="1" lang="en-GB" sz="4000">
                <a:solidFill>
                  <a:schemeClr val="lt2"/>
                </a:solidFill>
              </a:rPr>
              <a:t>D</a:t>
            </a:r>
            <a:r>
              <a:rPr lang="en-GB" sz="4000">
                <a:solidFill>
                  <a:schemeClr val="lt2"/>
                </a:solidFill>
              </a:rPr>
              <a:t>evelopment</a:t>
            </a:r>
            <a:endParaRPr sz="4000">
              <a:solidFill>
                <a:schemeClr val="lt2"/>
              </a:solidFill>
            </a:endParaRPr>
          </a:p>
        </p:txBody>
      </p:sp>
      <p:cxnSp>
        <p:nvCxnSpPr>
          <p:cNvPr id="58" name="Google Shape;58;p13"/>
          <p:cNvCxnSpPr/>
          <p:nvPr/>
        </p:nvCxnSpPr>
        <p:spPr>
          <a:xfrm>
            <a:off x="3965700" y="2178150"/>
            <a:ext cx="4413900" cy="270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720000" y="267200"/>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rgbClr val="191919"/>
                </a:solidFill>
                <a:latin typeface="Montserrat"/>
                <a:ea typeface="Montserrat"/>
                <a:cs typeface="Montserrat"/>
                <a:sym typeface="Montserrat"/>
              </a:rPr>
              <a:t>ABSTRACT</a:t>
            </a:r>
            <a:endParaRPr b="1" sz="3000">
              <a:solidFill>
                <a:srgbClr val="191919"/>
              </a:solidFill>
              <a:latin typeface="Montserrat"/>
              <a:ea typeface="Montserrat"/>
              <a:cs typeface="Montserrat"/>
              <a:sym typeface="Montserrat"/>
            </a:endParaRPr>
          </a:p>
        </p:txBody>
      </p:sp>
      <p:sp>
        <p:nvSpPr>
          <p:cNvPr id="64" name="Google Shape;64;p14"/>
          <p:cNvSpPr txBox="1"/>
          <p:nvPr/>
        </p:nvSpPr>
        <p:spPr>
          <a:xfrm>
            <a:off x="720000" y="910300"/>
            <a:ext cx="8125500" cy="348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Text-to-Speech (TTS) systems have improved significantly over the past couple of years, and yet, the problem of correctly rendering a variety of multilingual accents and emotions in synthesized speech is still a major problem. This project puts forward a new approach to optimizing multilingual TTS, with the accents and emotional expressiveness of diverse Indic languages. Inspired by existing models, we try to meet the cultural nuances of synthetic speech with our TTS framework. The significant features of our system include the offering of being able to take in a textual prompt alongside a description of the desirable speaker characteristics and environment features providing easy customizable speech as per the users’ choice of tone and style. Our model framework is transferable and utilizable in various environments and cultures with just simple text and description of the speaker. Such listening tests with native speakers indicate a strong increase in perceived naturalness and cultural authenticity. This research contributes to multilingual TTS, offering a scalable framework for accent adaptation and emotional synthesis, applicable in localized virtual assistants, education technology, and accessible content creation. </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700">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1654050" y="296375"/>
            <a:ext cx="583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rgbClr val="191919"/>
                </a:solidFill>
                <a:latin typeface="Montserrat"/>
                <a:ea typeface="Montserrat"/>
                <a:cs typeface="Montserrat"/>
                <a:sym typeface="Montserrat"/>
              </a:rPr>
              <a:t>IDEA &amp; APPROACH DETAILS</a:t>
            </a:r>
            <a:endParaRPr b="1" sz="3000">
              <a:solidFill>
                <a:srgbClr val="191919"/>
              </a:solidFill>
              <a:latin typeface="Montserrat"/>
              <a:ea typeface="Montserrat"/>
              <a:cs typeface="Montserrat"/>
              <a:sym typeface="Montserrat"/>
            </a:endParaRPr>
          </a:p>
        </p:txBody>
      </p:sp>
      <p:sp>
        <p:nvSpPr>
          <p:cNvPr id="70" name="Google Shape;70;p15"/>
          <p:cNvSpPr txBox="1"/>
          <p:nvPr/>
        </p:nvSpPr>
        <p:spPr>
          <a:xfrm>
            <a:off x="641300" y="958375"/>
            <a:ext cx="5038800" cy="594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100">
                <a:solidFill>
                  <a:srgbClr val="191919"/>
                </a:solidFill>
                <a:latin typeface="Montserrat"/>
                <a:ea typeface="Montserrat"/>
                <a:cs typeface="Montserrat"/>
                <a:sym typeface="Montserrat"/>
              </a:rPr>
              <a:t>Problem Statement</a:t>
            </a:r>
            <a:endParaRPr b="1" sz="2100">
              <a:solidFill>
                <a:srgbClr val="191919"/>
              </a:solidFill>
              <a:latin typeface="Montserrat"/>
              <a:ea typeface="Montserrat"/>
              <a:cs typeface="Montserrat"/>
              <a:sym typeface="Montserrat"/>
            </a:endParaRPr>
          </a:p>
        </p:txBody>
      </p:sp>
      <p:sp>
        <p:nvSpPr>
          <p:cNvPr id="71" name="Google Shape;71;p15"/>
          <p:cNvSpPr txBox="1"/>
          <p:nvPr/>
        </p:nvSpPr>
        <p:spPr>
          <a:xfrm>
            <a:off x="5680100" y="1033975"/>
            <a:ext cx="3077700" cy="51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000"/>
              </a:spcAft>
              <a:buNone/>
            </a:pPr>
            <a:r>
              <a:rPr b="1" lang="en-GB" sz="2100">
                <a:solidFill>
                  <a:srgbClr val="191919"/>
                </a:solidFill>
                <a:latin typeface="Montserrat"/>
                <a:ea typeface="Montserrat"/>
                <a:cs typeface="Montserrat"/>
                <a:sym typeface="Montserrat"/>
              </a:rPr>
              <a:t>Objectives</a:t>
            </a:r>
            <a:endParaRPr b="1" sz="2100">
              <a:solidFill>
                <a:srgbClr val="191919"/>
              </a:solidFill>
              <a:latin typeface="Montserrat"/>
              <a:ea typeface="Montserrat"/>
              <a:cs typeface="Montserrat"/>
              <a:sym typeface="Montserrat"/>
            </a:endParaRPr>
          </a:p>
        </p:txBody>
      </p:sp>
      <p:sp>
        <p:nvSpPr>
          <p:cNvPr id="72" name="Google Shape;72;p15"/>
          <p:cNvSpPr txBox="1"/>
          <p:nvPr/>
        </p:nvSpPr>
        <p:spPr>
          <a:xfrm>
            <a:off x="5680100" y="1552975"/>
            <a:ext cx="3077700" cy="1507500"/>
          </a:xfrm>
          <a:prstGeom prst="rect">
            <a:avLst/>
          </a:prstGeom>
          <a:noFill/>
          <a:ln>
            <a:noFill/>
          </a:ln>
        </p:spPr>
        <p:txBody>
          <a:bodyPr anchorCtr="0" anchor="t" bIns="91425" lIns="91425" spcFirstLastPara="1" rIns="91425" wrap="square" tIns="91425">
            <a:noAutofit/>
          </a:bodyPr>
          <a:lstStyle/>
          <a:p>
            <a:pPr indent="-336550" lvl="0" marL="457200" rtl="0" algn="just">
              <a:spcBef>
                <a:spcPts val="0"/>
              </a:spcBef>
              <a:spcAft>
                <a:spcPts val="0"/>
              </a:spcAft>
              <a:buClr>
                <a:srgbClr val="191919"/>
              </a:buClr>
              <a:buSzPts val="1700"/>
              <a:buFont typeface="Atkinson Hyperlegible"/>
              <a:buAutoNum type="arabicPeriod"/>
            </a:pPr>
            <a:r>
              <a:rPr lang="en-GB" sz="1700">
                <a:solidFill>
                  <a:srgbClr val="191919"/>
                </a:solidFill>
                <a:latin typeface="Times New Roman"/>
                <a:ea typeface="Times New Roman"/>
                <a:cs typeface="Times New Roman"/>
                <a:sym typeface="Times New Roman"/>
              </a:rPr>
              <a:t>Enhance Voice Quality</a:t>
            </a:r>
            <a:endParaRPr sz="1700">
              <a:solidFill>
                <a:srgbClr val="191919"/>
              </a:solidFill>
              <a:latin typeface="Times New Roman"/>
              <a:ea typeface="Times New Roman"/>
              <a:cs typeface="Times New Roman"/>
              <a:sym typeface="Times New Roman"/>
            </a:endParaRPr>
          </a:p>
          <a:p>
            <a:pPr indent="-336550" lvl="0" marL="457200" rtl="0" algn="just">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Multilingual Support</a:t>
            </a:r>
            <a:endParaRPr sz="1700">
              <a:solidFill>
                <a:srgbClr val="191919"/>
              </a:solidFill>
              <a:latin typeface="Times New Roman"/>
              <a:ea typeface="Times New Roman"/>
              <a:cs typeface="Times New Roman"/>
              <a:sym typeface="Times New Roman"/>
            </a:endParaRPr>
          </a:p>
          <a:p>
            <a:pPr indent="-336550" lvl="0" marL="457200" rtl="0" algn="just">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Optimize Existing Models</a:t>
            </a:r>
            <a:endParaRPr sz="1700">
              <a:solidFill>
                <a:srgbClr val="191919"/>
              </a:solidFill>
              <a:latin typeface="Times New Roman"/>
              <a:ea typeface="Times New Roman"/>
              <a:cs typeface="Times New Roman"/>
              <a:sym typeface="Times New Roman"/>
            </a:endParaRPr>
          </a:p>
          <a:p>
            <a:pPr indent="-336550" lvl="0" marL="457200" rtl="0" algn="just">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User Customization: Provide options for users to customize the voice output, including tone, pitch, speed, and emotional expression.</a:t>
            </a:r>
            <a:endParaRPr sz="1700">
              <a:solidFill>
                <a:srgbClr val="191919"/>
              </a:solidFill>
              <a:latin typeface="Times New Roman"/>
              <a:ea typeface="Times New Roman"/>
              <a:cs typeface="Times New Roman"/>
              <a:sym typeface="Times New Roman"/>
            </a:endParaRPr>
          </a:p>
        </p:txBody>
      </p:sp>
      <p:sp>
        <p:nvSpPr>
          <p:cNvPr id="73" name="Google Shape;73;p15"/>
          <p:cNvSpPr txBox="1"/>
          <p:nvPr/>
        </p:nvSpPr>
        <p:spPr>
          <a:xfrm>
            <a:off x="497625" y="1552975"/>
            <a:ext cx="5038800" cy="10902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en-GB" sz="1700">
                <a:solidFill>
                  <a:schemeClr val="dk1"/>
                </a:solidFill>
                <a:latin typeface="Times New Roman"/>
                <a:ea typeface="Times New Roman"/>
                <a:cs typeface="Times New Roman"/>
                <a:sym typeface="Times New Roman"/>
              </a:rPr>
              <a:t>Existing TTS systems in-adequately represent Indian English accents and lack emotional expressiveness, leading to unnatural speech, poor user engagement, and cultural underrepresentation. This limitation hinders effective communication in voice-based applications, particularly in educational and informational contexts, and contributes to a broader digital divide. There is a critical need for a TTS model specifically designed for Indian accents with enhanced emotional modulation to deliver natural, culturally authentic, and expressive speech, bridging the gap in user satisfaction and cultural inclusivity in voice-based technologies.</a:t>
            </a:r>
            <a:endParaRPr sz="17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700">
              <a:solidFill>
                <a:srgbClr val="191919"/>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solidFill>
                  <a:srgbClr val="191919"/>
                </a:solidFill>
                <a:latin typeface="Montserrat"/>
                <a:ea typeface="Montserrat"/>
                <a:cs typeface="Montserrat"/>
                <a:sym typeface="Montserrat"/>
              </a:rPr>
              <a:t>NOVELTY OF WORK</a:t>
            </a:r>
            <a:endParaRPr b="1" sz="3000">
              <a:solidFill>
                <a:srgbClr val="191919"/>
              </a:solidFill>
              <a:latin typeface="Montserrat"/>
              <a:ea typeface="Montserrat"/>
              <a:cs typeface="Montserrat"/>
              <a:sym typeface="Montserrat"/>
            </a:endParaRPr>
          </a:p>
        </p:txBody>
      </p:sp>
      <p:sp>
        <p:nvSpPr>
          <p:cNvPr id="79" name="Google Shape;79;p16"/>
          <p:cNvSpPr txBox="1"/>
          <p:nvPr/>
        </p:nvSpPr>
        <p:spPr>
          <a:xfrm>
            <a:off x="996325" y="1215750"/>
            <a:ext cx="4084800" cy="34164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GB" sz="1900">
                <a:solidFill>
                  <a:srgbClr val="191919"/>
                </a:solidFill>
                <a:latin typeface="Atkinson Hyperlegible"/>
                <a:ea typeface="Atkinson Hyperlegible"/>
                <a:cs typeface="Atkinson Hyperlegible"/>
                <a:sym typeface="Atkinson Hyperlegible"/>
              </a:rPr>
              <a:t>Area of Work:</a:t>
            </a:r>
            <a:endParaRPr b="1" sz="19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Natural Language Processing</a:t>
            </a:r>
            <a:endParaRPr sz="1700">
              <a:solidFill>
                <a:srgbClr val="191919"/>
              </a:solidFill>
              <a:latin typeface="Atkinson Hyperlegible"/>
              <a:ea typeface="Atkinson Hyperlegible"/>
              <a:cs typeface="Atkinson Hyperlegible"/>
              <a:sym typeface="Atkinson Hyperlegible"/>
            </a:endParaRPr>
          </a:p>
          <a:p>
            <a:pPr indent="0" lvl="0" marL="0" rtl="0" algn="just">
              <a:lnSpc>
                <a:spcPct val="115000"/>
              </a:lnSpc>
              <a:spcBef>
                <a:spcPts val="0"/>
              </a:spcBef>
              <a:spcAft>
                <a:spcPts val="0"/>
              </a:spcAft>
              <a:buNone/>
            </a:pPr>
            <a:r>
              <a:rPr b="1" lang="en-GB" sz="1900">
                <a:solidFill>
                  <a:srgbClr val="191919"/>
                </a:solidFill>
                <a:latin typeface="Atkinson Hyperlegible"/>
                <a:ea typeface="Atkinson Hyperlegible"/>
                <a:cs typeface="Atkinson Hyperlegible"/>
                <a:sym typeface="Atkinson Hyperlegible"/>
              </a:rPr>
              <a:t>Method:</a:t>
            </a:r>
            <a:endParaRPr b="1" sz="19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Transfer Learning &amp; Deep Learning</a:t>
            </a:r>
            <a:endParaRPr sz="17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Embedding of Emotions &amp; Accents</a:t>
            </a:r>
            <a:endParaRPr sz="17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Language Transliteration Algorithms</a:t>
            </a:r>
            <a:endParaRPr sz="1700">
              <a:solidFill>
                <a:srgbClr val="191919"/>
              </a:solidFill>
              <a:latin typeface="Atkinson Hyperlegible"/>
              <a:ea typeface="Atkinson Hyperlegible"/>
              <a:cs typeface="Atkinson Hyperlegible"/>
              <a:sym typeface="Atkinson Hyperlegible"/>
            </a:endParaRPr>
          </a:p>
          <a:p>
            <a:pPr indent="0" lvl="0" marL="0" rtl="0" algn="just">
              <a:lnSpc>
                <a:spcPct val="115000"/>
              </a:lnSpc>
              <a:spcBef>
                <a:spcPts val="0"/>
              </a:spcBef>
              <a:spcAft>
                <a:spcPts val="0"/>
              </a:spcAft>
              <a:buNone/>
            </a:pPr>
            <a:r>
              <a:rPr b="1" lang="en-GB" sz="1900">
                <a:solidFill>
                  <a:srgbClr val="191919"/>
                </a:solidFill>
                <a:latin typeface="Atkinson Hyperlegible"/>
                <a:ea typeface="Atkinson Hyperlegible"/>
                <a:cs typeface="Atkinson Hyperlegible"/>
                <a:sym typeface="Atkinson Hyperlegible"/>
              </a:rPr>
              <a:t>Efficiency of the technique:</a:t>
            </a:r>
            <a:endParaRPr b="1" sz="19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Quick generation</a:t>
            </a:r>
            <a:endParaRPr sz="17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Better than some competitors</a:t>
            </a:r>
            <a:endParaRPr sz="1700">
              <a:solidFill>
                <a:srgbClr val="191919"/>
              </a:solidFill>
              <a:latin typeface="Atkinson Hyperlegible"/>
              <a:ea typeface="Atkinson Hyperlegible"/>
              <a:cs typeface="Atkinson Hyperlegible"/>
              <a:sym typeface="Atkinson Hyperlegible"/>
            </a:endParaRPr>
          </a:p>
          <a:p>
            <a:pPr indent="0" lvl="0" marL="0" rtl="0" algn="just">
              <a:lnSpc>
                <a:spcPct val="115000"/>
              </a:lnSpc>
              <a:spcBef>
                <a:spcPts val="0"/>
              </a:spcBef>
              <a:spcAft>
                <a:spcPts val="0"/>
              </a:spcAft>
              <a:buNone/>
            </a:pPr>
            <a:r>
              <a:rPr b="1" lang="en-GB" sz="1900">
                <a:solidFill>
                  <a:srgbClr val="191919"/>
                </a:solidFill>
                <a:latin typeface="Atkinson Hyperlegible"/>
                <a:ea typeface="Atkinson Hyperlegible"/>
                <a:cs typeface="Atkinson Hyperlegible"/>
                <a:sym typeface="Atkinson Hyperlegible"/>
              </a:rPr>
              <a:t>Economy:</a:t>
            </a:r>
            <a:endParaRPr b="1" sz="1900">
              <a:solidFill>
                <a:srgbClr val="191919"/>
              </a:solidFill>
              <a:latin typeface="Atkinson Hyperlegible"/>
              <a:ea typeface="Atkinson Hyperlegible"/>
              <a:cs typeface="Atkinson Hyperlegible"/>
              <a:sym typeface="Atkinson Hyperlegible"/>
            </a:endParaRPr>
          </a:p>
          <a:p>
            <a:pPr indent="-336550" lvl="0" marL="457200" rtl="0" algn="just">
              <a:lnSpc>
                <a:spcPct val="115000"/>
              </a:lnSpc>
              <a:spcBef>
                <a:spcPts val="0"/>
              </a:spcBef>
              <a:spcAft>
                <a:spcPts val="0"/>
              </a:spcAft>
              <a:buClr>
                <a:srgbClr val="191919"/>
              </a:buClr>
              <a:buSzPts val="1700"/>
              <a:buFont typeface="Atkinson Hyperlegible"/>
              <a:buChar char="●"/>
            </a:pPr>
            <a:r>
              <a:rPr lang="en-GB" sz="1700">
                <a:solidFill>
                  <a:srgbClr val="191919"/>
                </a:solidFill>
                <a:latin typeface="Atkinson Hyperlegible"/>
                <a:ea typeface="Atkinson Hyperlegible"/>
                <a:cs typeface="Atkinson Hyperlegible"/>
                <a:sym typeface="Atkinson Hyperlegible"/>
              </a:rPr>
              <a:t>AI-As-A-Service(AIaaS/PaaS)</a:t>
            </a:r>
            <a:endParaRPr sz="1700">
              <a:solidFill>
                <a:srgbClr val="191919"/>
              </a:solidFill>
              <a:latin typeface="Atkinson Hyperlegible"/>
              <a:ea typeface="Atkinson Hyperlegible"/>
              <a:cs typeface="Atkinson Hyperlegible"/>
              <a:sym typeface="Atkinson Hyperlegible"/>
            </a:endParaRPr>
          </a:p>
        </p:txBody>
      </p:sp>
      <p:pic>
        <p:nvPicPr>
          <p:cNvPr id="80" name="Google Shape;80;p16"/>
          <p:cNvPicPr preferRelativeResize="0"/>
          <p:nvPr/>
        </p:nvPicPr>
        <p:blipFill>
          <a:blip r:embed="rId3">
            <a:alphaModFix/>
          </a:blip>
          <a:stretch>
            <a:fillRect/>
          </a:stretch>
        </p:blipFill>
        <p:spPr>
          <a:xfrm>
            <a:off x="5179725" y="2007925"/>
            <a:ext cx="3758076" cy="1832061"/>
          </a:xfrm>
          <a:prstGeom prst="rect">
            <a:avLst/>
          </a:prstGeom>
          <a:noFill/>
          <a:ln cap="flat" cmpd="sng" w="19050">
            <a:solidFill>
              <a:srgbClr val="191919"/>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rgbClr val="191919"/>
                </a:solidFill>
                <a:latin typeface="Montserrat"/>
                <a:ea typeface="Montserrat"/>
                <a:cs typeface="Montserrat"/>
                <a:sym typeface="Montserrat"/>
              </a:rPr>
              <a:t>Our Idea Approach</a:t>
            </a:r>
            <a:endParaRPr b="1" sz="3000">
              <a:solidFill>
                <a:srgbClr val="191919"/>
              </a:solidFill>
              <a:latin typeface="Montserrat"/>
              <a:ea typeface="Montserrat"/>
              <a:cs typeface="Montserrat"/>
              <a:sym typeface="Montserrat"/>
            </a:endParaRPr>
          </a:p>
        </p:txBody>
      </p:sp>
      <p:sp>
        <p:nvSpPr>
          <p:cNvPr id="86" name="Google Shape;86;p17"/>
          <p:cNvSpPr/>
          <p:nvPr/>
        </p:nvSpPr>
        <p:spPr>
          <a:xfrm>
            <a:off x="1531125" y="1334047"/>
            <a:ext cx="176400" cy="176400"/>
          </a:xfrm>
          <a:prstGeom prst="rect">
            <a:avLst/>
          </a:prstGeom>
          <a:solidFill>
            <a:srgbClr val="E371D6"/>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p:nvPr/>
        </p:nvSpPr>
        <p:spPr>
          <a:xfrm>
            <a:off x="3495025" y="1334047"/>
            <a:ext cx="176400" cy="176400"/>
          </a:xfrm>
          <a:prstGeom prst="rect">
            <a:avLst/>
          </a:prstGeom>
          <a:solidFill>
            <a:srgbClr val="F3C873"/>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7"/>
          <p:cNvSpPr/>
          <p:nvPr/>
        </p:nvSpPr>
        <p:spPr>
          <a:xfrm>
            <a:off x="5458925" y="1334047"/>
            <a:ext cx="176400" cy="176400"/>
          </a:xfrm>
          <a:prstGeom prst="rect">
            <a:avLst/>
          </a:prstGeom>
          <a:solidFill>
            <a:srgbClr val="F2ADAC"/>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7422825" y="1334047"/>
            <a:ext cx="176400" cy="176400"/>
          </a:xfrm>
          <a:prstGeom prst="rect">
            <a:avLst/>
          </a:prstGeom>
          <a:solidFill>
            <a:srgbClr val="EF9C57"/>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txBox="1"/>
          <p:nvPr/>
        </p:nvSpPr>
        <p:spPr>
          <a:xfrm flipH="1">
            <a:off x="713125" y="175872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1</a:t>
            </a:r>
            <a:endParaRPr b="1" sz="2000">
              <a:solidFill>
                <a:srgbClr val="191919"/>
              </a:solidFill>
              <a:latin typeface="Montserrat"/>
              <a:ea typeface="Montserrat"/>
              <a:cs typeface="Montserrat"/>
              <a:sym typeface="Montserrat"/>
            </a:endParaRPr>
          </a:p>
        </p:txBody>
      </p:sp>
      <p:sp>
        <p:nvSpPr>
          <p:cNvPr id="91" name="Google Shape;91;p17"/>
          <p:cNvSpPr txBox="1"/>
          <p:nvPr/>
        </p:nvSpPr>
        <p:spPr>
          <a:xfrm flipH="1">
            <a:off x="713175" y="2259073"/>
            <a:ext cx="1812300" cy="5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Literature Review</a:t>
            </a:r>
            <a:endParaRPr sz="1200">
              <a:solidFill>
                <a:srgbClr val="191919"/>
              </a:solidFill>
              <a:latin typeface="Atkinson Hyperlegible"/>
              <a:ea typeface="Atkinson Hyperlegible"/>
              <a:cs typeface="Atkinson Hyperlegible"/>
              <a:sym typeface="Atkinson Hyperlegible"/>
            </a:endParaRPr>
          </a:p>
        </p:txBody>
      </p:sp>
      <p:sp>
        <p:nvSpPr>
          <p:cNvPr id="92" name="Google Shape;92;p17"/>
          <p:cNvSpPr txBox="1"/>
          <p:nvPr/>
        </p:nvSpPr>
        <p:spPr>
          <a:xfrm flipH="1">
            <a:off x="2675764" y="175872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2</a:t>
            </a:r>
            <a:endParaRPr b="1" sz="2000">
              <a:solidFill>
                <a:srgbClr val="191919"/>
              </a:solidFill>
              <a:latin typeface="Montserrat"/>
              <a:ea typeface="Montserrat"/>
              <a:cs typeface="Montserrat"/>
              <a:sym typeface="Montserrat"/>
            </a:endParaRPr>
          </a:p>
        </p:txBody>
      </p:sp>
      <p:sp>
        <p:nvSpPr>
          <p:cNvPr id="93" name="Google Shape;93;p17"/>
          <p:cNvSpPr txBox="1"/>
          <p:nvPr/>
        </p:nvSpPr>
        <p:spPr>
          <a:xfrm flipH="1">
            <a:off x="2675772" y="2259077"/>
            <a:ext cx="1812300" cy="5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Dataset Collection</a:t>
            </a:r>
            <a:endParaRPr sz="1200">
              <a:solidFill>
                <a:srgbClr val="191919"/>
              </a:solidFill>
              <a:latin typeface="Atkinson Hyperlegible"/>
              <a:ea typeface="Atkinson Hyperlegible"/>
              <a:cs typeface="Atkinson Hyperlegible"/>
              <a:sym typeface="Atkinson Hyperlegible"/>
            </a:endParaRPr>
          </a:p>
        </p:txBody>
      </p:sp>
      <p:sp>
        <p:nvSpPr>
          <p:cNvPr id="94" name="Google Shape;94;p17"/>
          <p:cNvSpPr txBox="1"/>
          <p:nvPr/>
        </p:nvSpPr>
        <p:spPr>
          <a:xfrm flipH="1">
            <a:off x="4640925" y="175872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3</a:t>
            </a:r>
            <a:endParaRPr b="1" sz="2000">
              <a:solidFill>
                <a:srgbClr val="191919"/>
              </a:solidFill>
              <a:latin typeface="Montserrat"/>
              <a:ea typeface="Montserrat"/>
              <a:cs typeface="Montserrat"/>
              <a:sym typeface="Montserrat"/>
            </a:endParaRPr>
          </a:p>
        </p:txBody>
      </p:sp>
      <p:sp>
        <p:nvSpPr>
          <p:cNvPr id="95" name="Google Shape;95;p17"/>
          <p:cNvSpPr txBox="1"/>
          <p:nvPr/>
        </p:nvSpPr>
        <p:spPr>
          <a:xfrm flipH="1">
            <a:off x="4494850" y="2204475"/>
            <a:ext cx="2116800" cy="6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Preprocessing &amp; Feature Engineering</a:t>
            </a:r>
            <a:endParaRPr sz="1200">
              <a:solidFill>
                <a:srgbClr val="191919"/>
              </a:solidFill>
              <a:latin typeface="Atkinson Hyperlegible"/>
              <a:ea typeface="Atkinson Hyperlegible"/>
              <a:cs typeface="Atkinson Hyperlegible"/>
              <a:sym typeface="Atkinson Hyperlegible"/>
            </a:endParaRPr>
          </a:p>
        </p:txBody>
      </p:sp>
      <p:sp>
        <p:nvSpPr>
          <p:cNvPr id="96" name="Google Shape;96;p17"/>
          <p:cNvSpPr txBox="1"/>
          <p:nvPr/>
        </p:nvSpPr>
        <p:spPr>
          <a:xfrm flipH="1">
            <a:off x="6604825" y="175872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4</a:t>
            </a:r>
            <a:endParaRPr b="1" sz="2000">
              <a:solidFill>
                <a:srgbClr val="191919"/>
              </a:solidFill>
              <a:latin typeface="Montserrat"/>
              <a:ea typeface="Montserrat"/>
              <a:cs typeface="Montserrat"/>
              <a:sym typeface="Montserrat"/>
            </a:endParaRPr>
          </a:p>
        </p:txBody>
      </p:sp>
      <p:sp>
        <p:nvSpPr>
          <p:cNvPr id="97" name="Google Shape;97;p17"/>
          <p:cNvSpPr txBox="1"/>
          <p:nvPr/>
        </p:nvSpPr>
        <p:spPr>
          <a:xfrm flipH="1">
            <a:off x="6452575" y="2265450"/>
            <a:ext cx="2116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Model Architecture</a:t>
            </a:r>
            <a:endParaRPr sz="1200">
              <a:solidFill>
                <a:srgbClr val="191919"/>
              </a:solidFill>
              <a:latin typeface="Atkinson Hyperlegible"/>
              <a:ea typeface="Atkinson Hyperlegible"/>
              <a:cs typeface="Atkinson Hyperlegible"/>
              <a:sym typeface="Atkinson Hyperlegible"/>
            </a:endParaRPr>
          </a:p>
        </p:txBody>
      </p:sp>
      <p:cxnSp>
        <p:nvCxnSpPr>
          <p:cNvPr id="98" name="Google Shape;98;p17"/>
          <p:cNvCxnSpPr>
            <a:stCxn id="86" idx="3"/>
            <a:endCxn id="87" idx="1"/>
          </p:cNvCxnSpPr>
          <p:nvPr/>
        </p:nvCxnSpPr>
        <p:spPr>
          <a:xfrm>
            <a:off x="1707525" y="1422247"/>
            <a:ext cx="1787400" cy="0"/>
          </a:xfrm>
          <a:prstGeom prst="straightConnector1">
            <a:avLst/>
          </a:prstGeom>
          <a:noFill/>
          <a:ln cap="flat" cmpd="sng" w="9525">
            <a:solidFill>
              <a:srgbClr val="191919"/>
            </a:solidFill>
            <a:prstDash val="solid"/>
            <a:round/>
            <a:headEnd len="med" w="med" type="none"/>
            <a:tailEnd len="med" w="med" type="none"/>
          </a:ln>
        </p:spPr>
      </p:cxnSp>
      <p:cxnSp>
        <p:nvCxnSpPr>
          <p:cNvPr id="99" name="Google Shape;99;p17"/>
          <p:cNvCxnSpPr>
            <a:stCxn id="87" idx="3"/>
            <a:endCxn id="88" idx="1"/>
          </p:cNvCxnSpPr>
          <p:nvPr/>
        </p:nvCxnSpPr>
        <p:spPr>
          <a:xfrm>
            <a:off x="3671425" y="1422247"/>
            <a:ext cx="1787400" cy="0"/>
          </a:xfrm>
          <a:prstGeom prst="straightConnector1">
            <a:avLst/>
          </a:prstGeom>
          <a:noFill/>
          <a:ln cap="flat" cmpd="sng" w="9525">
            <a:solidFill>
              <a:srgbClr val="191919"/>
            </a:solidFill>
            <a:prstDash val="solid"/>
            <a:round/>
            <a:headEnd len="med" w="med" type="none"/>
            <a:tailEnd len="med" w="med" type="none"/>
          </a:ln>
        </p:spPr>
      </p:cxnSp>
      <p:cxnSp>
        <p:nvCxnSpPr>
          <p:cNvPr id="100" name="Google Shape;100;p17"/>
          <p:cNvCxnSpPr>
            <a:stCxn id="88" idx="3"/>
            <a:endCxn id="89" idx="1"/>
          </p:cNvCxnSpPr>
          <p:nvPr/>
        </p:nvCxnSpPr>
        <p:spPr>
          <a:xfrm>
            <a:off x="5635325" y="1422247"/>
            <a:ext cx="1787400" cy="0"/>
          </a:xfrm>
          <a:prstGeom prst="straightConnector1">
            <a:avLst/>
          </a:prstGeom>
          <a:noFill/>
          <a:ln cap="flat" cmpd="sng" w="9525">
            <a:solidFill>
              <a:srgbClr val="191919"/>
            </a:solidFill>
            <a:prstDash val="solid"/>
            <a:round/>
            <a:headEnd len="med" w="med" type="none"/>
            <a:tailEnd len="med" w="med" type="none"/>
          </a:ln>
        </p:spPr>
      </p:cxnSp>
      <p:cxnSp>
        <p:nvCxnSpPr>
          <p:cNvPr id="101" name="Google Shape;101;p17"/>
          <p:cNvCxnSpPr>
            <a:stCxn id="86" idx="2"/>
            <a:endCxn id="90" idx="0"/>
          </p:cNvCxnSpPr>
          <p:nvPr/>
        </p:nvCxnSpPr>
        <p:spPr>
          <a:xfrm>
            <a:off x="1619325" y="1510447"/>
            <a:ext cx="0" cy="248400"/>
          </a:xfrm>
          <a:prstGeom prst="straightConnector1">
            <a:avLst/>
          </a:prstGeom>
          <a:noFill/>
          <a:ln cap="flat" cmpd="sng" w="9525">
            <a:solidFill>
              <a:srgbClr val="191919"/>
            </a:solidFill>
            <a:prstDash val="solid"/>
            <a:round/>
            <a:headEnd len="med" w="med" type="none"/>
            <a:tailEnd len="med" w="med" type="diamond"/>
          </a:ln>
        </p:spPr>
      </p:cxnSp>
      <p:cxnSp>
        <p:nvCxnSpPr>
          <p:cNvPr id="102" name="Google Shape;102;p17"/>
          <p:cNvCxnSpPr>
            <a:stCxn id="87" idx="2"/>
            <a:endCxn id="92" idx="0"/>
          </p:cNvCxnSpPr>
          <p:nvPr/>
        </p:nvCxnSpPr>
        <p:spPr>
          <a:xfrm flipH="1">
            <a:off x="3582025" y="1510447"/>
            <a:ext cx="1200" cy="248400"/>
          </a:xfrm>
          <a:prstGeom prst="straightConnector1">
            <a:avLst/>
          </a:prstGeom>
          <a:noFill/>
          <a:ln cap="flat" cmpd="sng" w="9525">
            <a:solidFill>
              <a:srgbClr val="191919"/>
            </a:solidFill>
            <a:prstDash val="solid"/>
            <a:round/>
            <a:headEnd len="med" w="med" type="none"/>
            <a:tailEnd len="med" w="med" type="diamond"/>
          </a:ln>
        </p:spPr>
      </p:cxnSp>
      <p:cxnSp>
        <p:nvCxnSpPr>
          <p:cNvPr id="103" name="Google Shape;103;p17"/>
          <p:cNvCxnSpPr>
            <a:stCxn id="88" idx="2"/>
            <a:endCxn id="94" idx="0"/>
          </p:cNvCxnSpPr>
          <p:nvPr/>
        </p:nvCxnSpPr>
        <p:spPr>
          <a:xfrm>
            <a:off x="5547125" y="1510447"/>
            <a:ext cx="0" cy="248400"/>
          </a:xfrm>
          <a:prstGeom prst="straightConnector1">
            <a:avLst/>
          </a:prstGeom>
          <a:noFill/>
          <a:ln cap="flat" cmpd="sng" w="9525">
            <a:solidFill>
              <a:srgbClr val="191919"/>
            </a:solidFill>
            <a:prstDash val="solid"/>
            <a:round/>
            <a:headEnd len="med" w="med" type="none"/>
            <a:tailEnd len="med" w="med" type="diamond"/>
          </a:ln>
        </p:spPr>
      </p:cxnSp>
      <p:cxnSp>
        <p:nvCxnSpPr>
          <p:cNvPr id="104" name="Google Shape;104;p17"/>
          <p:cNvCxnSpPr>
            <a:stCxn id="89" idx="2"/>
            <a:endCxn id="96" idx="0"/>
          </p:cNvCxnSpPr>
          <p:nvPr/>
        </p:nvCxnSpPr>
        <p:spPr>
          <a:xfrm>
            <a:off x="7511025" y="1510447"/>
            <a:ext cx="0" cy="248400"/>
          </a:xfrm>
          <a:prstGeom prst="straightConnector1">
            <a:avLst/>
          </a:prstGeom>
          <a:noFill/>
          <a:ln cap="flat" cmpd="sng" w="9525">
            <a:solidFill>
              <a:srgbClr val="191919"/>
            </a:solidFill>
            <a:prstDash val="solid"/>
            <a:round/>
            <a:headEnd len="med" w="med" type="none"/>
            <a:tailEnd len="med" w="med" type="diamond"/>
          </a:ln>
        </p:spPr>
      </p:cxnSp>
      <p:sp>
        <p:nvSpPr>
          <p:cNvPr id="105" name="Google Shape;105;p17"/>
          <p:cNvSpPr/>
          <p:nvPr/>
        </p:nvSpPr>
        <p:spPr>
          <a:xfrm>
            <a:off x="1531125" y="3168497"/>
            <a:ext cx="176400" cy="176400"/>
          </a:xfrm>
          <a:prstGeom prst="rect">
            <a:avLst/>
          </a:prstGeom>
          <a:solidFill>
            <a:srgbClr val="EF9C57"/>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p:nvPr/>
        </p:nvSpPr>
        <p:spPr>
          <a:xfrm>
            <a:off x="3495025" y="3168497"/>
            <a:ext cx="176400" cy="176400"/>
          </a:xfrm>
          <a:prstGeom prst="rect">
            <a:avLst/>
          </a:prstGeom>
          <a:solidFill>
            <a:srgbClr val="F2ADAC"/>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a:off x="5458925" y="3168497"/>
            <a:ext cx="176400" cy="176400"/>
          </a:xfrm>
          <a:prstGeom prst="rect">
            <a:avLst/>
          </a:prstGeom>
          <a:solidFill>
            <a:srgbClr val="F3C873"/>
          </a:solidFill>
          <a:ln cap="flat" cmpd="sng" w="9525">
            <a:solidFill>
              <a:srgbClr val="1919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txBox="1"/>
          <p:nvPr/>
        </p:nvSpPr>
        <p:spPr>
          <a:xfrm flipH="1">
            <a:off x="713125" y="359317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5</a:t>
            </a:r>
            <a:endParaRPr b="1" sz="2000">
              <a:solidFill>
                <a:srgbClr val="191919"/>
              </a:solidFill>
              <a:latin typeface="Montserrat"/>
              <a:ea typeface="Montserrat"/>
              <a:cs typeface="Montserrat"/>
              <a:sym typeface="Montserrat"/>
            </a:endParaRPr>
          </a:p>
        </p:txBody>
      </p:sp>
      <p:sp>
        <p:nvSpPr>
          <p:cNvPr id="109" name="Google Shape;109;p17"/>
          <p:cNvSpPr txBox="1"/>
          <p:nvPr/>
        </p:nvSpPr>
        <p:spPr>
          <a:xfrm flipH="1">
            <a:off x="641425" y="4093525"/>
            <a:ext cx="1955700" cy="5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Adding Emotion &amp; Accent Embeddings</a:t>
            </a:r>
            <a:endParaRPr sz="1200">
              <a:solidFill>
                <a:srgbClr val="191919"/>
              </a:solidFill>
              <a:latin typeface="Atkinson Hyperlegible"/>
              <a:ea typeface="Atkinson Hyperlegible"/>
              <a:cs typeface="Atkinson Hyperlegible"/>
              <a:sym typeface="Atkinson Hyperlegible"/>
            </a:endParaRPr>
          </a:p>
        </p:txBody>
      </p:sp>
      <p:sp>
        <p:nvSpPr>
          <p:cNvPr id="110" name="Google Shape;110;p17"/>
          <p:cNvSpPr txBox="1"/>
          <p:nvPr/>
        </p:nvSpPr>
        <p:spPr>
          <a:xfrm flipH="1">
            <a:off x="2675764" y="359317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6</a:t>
            </a:r>
            <a:endParaRPr b="1" sz="2000">
              <a:solidFill>
                <a:srgbClr val="191919"/>
              </a:solidFill>
              <a:latin typeface="Montserrat"/>
              <a:ea typeface="Montserrat"/>
              <a:cs typeface="Montserrat"/>
              <a:sym typeface="Montserrat"/>
            </a:endParaRPr>
          </a:p>
        </p:txBody>
      </p:sp>
      <p:sp>
        <p:nvSpPr>
          <p:cNvPr id="111" name="Google Shape;111;p17"/>
          <p:cNvSpPr txBox="1"/>
          <p:nvPr/>
        </p:nvSpPr>
        <p:spPr>
          <a:xfrm flipH="1">
            <a:off x="2675775" y="4093524"/>
            <a:ext cx="1812300" cy="70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Transfer learning &amp; Fine tuning</a:t>
            </a:r>
            <a:endParaRPr sz="1200">
              <a:solidFill>
                <a:srgbClr val="191919"/>
              </a:solidFill>
              <a:latin typeface="Atkinson Hyperlegible"/>
              <a:ea typeface="Atkinson Hyperlegible"/>
              <a:cs typeface="Atkinson Hyperlegible"/>
              <a:sym typeface="Atkinson Hyperlegible"/>
            </a:endParaRPr>
          </a:p>
        </p:txBody>
      </p:sp>
      <p:sp>
        <p:nvSpPr>
          <p:cNvPr id="112" name="Google Shape;112;p17"/>
          <p:cNvSpPr txBox="1"/>
          <p:nvPr/>
        </p:nvSpPr>
        <p:spPr>
          <a:xfrm flipH="1">
            <a:off x="4640925" y="3593172"/>
            <a:ext cx="18123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GB" sz="2000">
                <a:solidFill>
                  <a:srgbClr val="191919"/>
                </a:solidFill>
                <a:latin typeface="Montserrat"/>
                <a:ea typeface="Montserrat"/>
                <a:cs typeface="Montserrat"/>
                <a:sym typeface="Montserrat"/>
              </a:rPr>
              <a:t>Step 7</a:t>
            </a:r>
            <a:endParaRPr b="1" sz="2000">
              <a:solidFill>
                <a:srgbClr val="191919"/>
              </a:solidFill>
              <a:latin typeface="Montserrat"/>
              <a:ea typeface="Montserrat"/>
              <a:cs typeface="Montserrat"/>
              <a:sym typeface="Montserrat"/>
            </a:endParaRPr>
          </a:p>
        </p:txBody>
      </p:sp>
      <p:sp>
        <p:nvSpPr>
          <p:cNvPr id="113" name="Google Shape;113;p17"/>
          <p:cNvSpPr txBox="1"/>
          <p:nvPr/>
        </p:nvSpPr>
        <p:spPr>
          <a:xfrm flipH="1">
            <a:off x="4640975" y="4093523"/>
            <a:ext cx="1812300" cy="51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191919"/>
                </a:solidFill>
                <a:latin typeface="Atkinson Hyperlegible"/>
                <a:ea typeface="Atkinson Hyperlegible"/>
                <a:cs typeface="Atkinson Hyperlegible"/>
                <a:sym typeface="Atkinson Hyperlegible"/>
              </a:rPr>
              <a:t>Evaluation &amp; Optimization</a:t>
            </a:r>
            <a:endParaRPr sz="1200">
              <a:solidFill>
                <a:srgbClr val="191919"/>
              </a:solidFill>
              <a:latin typeface="Atkinson Hyperlegible"/>
              <a:ea typeface="Atkinson Hyperlegible"/>
              <a:cs typeface="Atkinson Hyperlegible"/>
              <a:sym typeface="Atkinson Hyperlegible"/>
            </a:endParaRPr>
          </a:p>
        </p:txBody>
      </p:sp>
      <p:cxnSp>
        <p:nvCxnSpPr>
          <p:cNvPr id="114" name="Google Shape;114;p17"/>
          <p:cNvCxnSpPr>
            <a:stCxn id="105" idx="3"/>
            <a:endCxn id="106" idx="1"/>
          </p:cNvCxnSpPr>
          <p:nvPr/>
        </p:nvCxnSpPr>
        <p:spPr>
          <a:xfrm>
            <a:off x="1707525" y="3256697"/>
            <a:ext cx="1787400" cy="0"/>
          </a:xfrm>
          <a:prstGeom prst="straightConnector1">
            <a:avLst/>
          </a:prstGeom>
          <a:noFill/>
          <a:ln cap="flat" cmpd="sng" w="9525">
            <a:solidFill>
              <a:srgbClr val="191919"/>
            </a:solidFill>
            <a:prstDash val="solid"/>
            <a:round/>
            <a:headEnd len="med" w="med" type="none"/>
            <a:tailEnd len="med" w="med" type="none"/>
          </a:ln>
        </p:spPr>
      </p:cxnSp>
      <p:cxnSp>
        <p:nvCxnSpPr>
          <p:cNvPr id="115" name="Google Shape;115;p17"/>
          <p:cNvCxnSpPr>
            <a:stCxn id="106" idx="3"/>
            <a:endCxn id="107" idx="1"/>
          </p:cNvCxnSpPr>
          <p:nvPr/>
        </p:nvCxnSpPr>
        <p:spPr>
          <a:xfrm>
            <a:off x="3671425" y="3256697"/>
            <a:ext cx="1787400" cy="0"/>
          </a:xfrm>
          <a:prstGeom prst="straightConnector1">
            <a:avLst/>
          </a:prstGeom>
          <a:noFill/>
          <a:ln cap="flat" cmpd="sng" w="9525">
            <a:solidFill>
              <a:srgbClr val="191919"/>
            </a:solidFill>
            <a:prstDash val="solid"/>
            <a:round/>
            <a:headEnd len="med" w="med" type="none"/>
            <a:tailEnd len="med" w="med" type="none"/>
          </a:ln>
        </p:spPr>
      </p:cxnSp>
      <p:cxnSp>
        <p:nvCxnSpPr>
          <p:cNvPr id="116" name="Google Shape;116;p17"/>
          <p:cNvCxnSpPr>
            <a:stCxn id="105" idx="2"/>
            <a:endCxn id="108" idx="0"/>
          </p:cNvCxnSpPr>
          <p:nvPr/>
        </p:nvCxnSpPr>
        <p:spPr>
          <a:xfrm>
            <a:off x="1619325" y="3344897"/>
            <a:ext cx="0" cy="248400"/>
          </a:xfrm>
          <a:prstGeom prst="straightConnector1">
            <a:avLst/>
          </a:prstGeom>
          <a:noFill/>
          <a:ln cap="flat" cmpd="sng" w="9525">
            <a:solidFill>
              <a:srgbClr val="191919"/>
            </a:solidFill>
            <a:prstDash val="solid"/>
            <a:round/>
            <a:headEnd len="med" w="med" type="none"/>
            <a:tailEnd len="med" w="med" type="diamond"/>
          </a:ln>
        </p:spPr>
      </p:cxnSp>
      <p:cxnSp>
        <p:nvCxnSpPr>
          <p:cNvPr id="117" name="Google Shape;117;p17"/>
          <p:cNvCxnSpPr>
            <a:stCxn id="106" idx="2"/>
            <a:endCxn id="110" idx="0"/>
          </p:cNvCxnSpPr>
          <p:nvPr/>
        </p:nvCxnSpPr>
        <p:spPr>
          <a:xfrm flipH="1">
            <a:off x="3582025" y="3344897"/>
            <a:ext cx="1200" cy="248400"/>
          </a:xfrm>
          <a:prstGeom prst="straightConnector1">
            <a:avLst/>
          </a:prstGeom>
          <a:noFill/>
          <a:ln cap="flat" cmpd="sng" w="9525">
            <a:solidFill>
              <a:srgbClr val="191919"/>
            </a:solidFill>
            <a:prstDash val="solid"/>
            <a:round/>
            <a:headEnd len="med" w="med" type="none"/>
            <a:tailEnd len="med" w="med" type="diamond"/>
          </a:ln>
        </p:spPr>
      </p:cxnSp>
      <p:cxnSp>
        <p:nvCxnSpPr>
          <p:cNvPr id="118" name="Google Shape;118;p17"/>
          <p:cNvCxnSpPr>
            <a:stCxn id="107" idx="2"/>
            <a:endCxn id="112" idx="0"/>
          </p:cNvCxnSpPr>
          <p:nvPr/>
        </p:nvCxnSpPr>
        <p:spPr>
          <a:xfrm>
            <a:off x="5547125" y="3344897"/>
            <a:ext cx="0" cy="248400"/>
          </a:xfrm>
          <a:prstGeom prst="straightConnector1">
            <a:avLst/>
          </a:prstGeom>
          <a:noFill/>
          <a:ln cap="flat" cmpd="sng" w="9525">
            <a:solidFill>
              <a:srgbClr val="191919"/>
            </a:solidFill>
            <a:prstDash val="solid"/>
            <a:round/>
            <a:headEnd len="med" w="med" type="none"/>
            <a:tailEnd len="med" w="med" type="diamond"/>
          </a:ln>
        </p:spPr>
      </p:cxnSp>
      <p:cxnSp>
        <p:nvCxnSpPr>
          <p:cNvPr id="119" name="Google Shape;119;p17"/>
          <p:cNvCxnSpPr>
            <a:stCxn id="89" idx="3"/>
            <a:endCxn id="105" idx="1"/>
          </p:cNvCxnSpPr>
          <p:nvPr/>
        </p:nvCxnSpPr>
        <p:spPr>
          <a:xfrm flipH="1">
            <a:off x="1531125" y="1422247"/>
            <a:ext cx="6068100" cy="1834500"/>
          </a:xfrm>
          <a:prstGeom prst="bentConnector5">
            <a:avLst>
              <a:gd fmla="val -3924" name="adj1"/>
              <a:gd fmla="val 49999" name="adj2"/>
              <a:gd fmla="val 103924" name="adj3"/>
            </a:avLst>
          </a:prstGeom>
          <a:noFill/>
          <a:ln cap="flat" cmpd="sng" w="9525">
            <a:solidFill>
              <a:srgbClr val="191919"/>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nvSpPr>
        <p:spPr>
          <a:xfrm>
            <a:off x="522375" y="0"/>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600">
                <a:solidFill>
                  <a:srgbClr val="191919"/>
                </a:solidFill>
                <a:latin typeface="Montserrat"/>
                <a:ea typeface="Montserrat"/>
                <a:cs typeface="Montserrat"/>
                <a:sym typeface="Montserrat"/>
              </a:rPr>
              <a:t>Literature Review &amp; Existing Systems</a:t>
            </a:r>
            <a:endParaRPr b="1" sz="2600">
              <a:solidFill>
                <a:srgbClr val="191919"/>
              </a:solidFill>
              <a:latin typeface="Montserrat"/>
              <a:ea typeface="Montserrat"/>
              <a:cs typeface="Montserrat"/>
              <a:sym typeface="Montserrat"/>
            </a:endParaRPr>
          </a:p>
        </p:txBody>
      </p:sp>
      <p:graphicFrame>
        <p:nvGraphicFramePr>
          <p:cNvPr id="125" name="Google Shape;125;p18"/>
          <p:cNvGraphicFramePr/>
          <p:nvPr/>
        </p:nvGraphicFramePr>
        <p:xfrm>
          <a:off x="522375" y="388823"/>
          <a:ext cx="3000000" cy="3000000"/>
        </p:xfrm>
        <a:graphic>
          <a:graphicData uri="http://schemas.openxmlformats.org/drawingml/2006/table">
            <a:tbl>
              <a:tblPr>
                <a:noFill/>
                <a:tableStyleId>{FA1A2A1E-309B-48B8-9EE2-45F2411D3D53}</a:tableStyleId>
              </a:tblPr>
              <a:tblGrid>
                <a:gridCol w="3350925"/>
                <a:gridCol w="2224400"/>
                <a:gridCol w="2585800"/>
              </a:tblGrid>
              <a:tr h="464125">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Name</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Key Points</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Research Gap</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3">
                            <a:extLst>
                              <a:ext uri="{A12FA001-AC4F-418D-AE19-62706E023703}">
                                <ahyp:hlinkClr val="tx"/>
                              </a:ext>
                            </a:extLst>
                          </a:hlinkClick>
                        </a:rPr>
                        <a:t>English-Hindi Transliteration using Multiple Similarity Metrics</a:t>
                      </a:r>
                      <a:endParaRPr b="1" sz="1100">
                        <a:solidFill>
                          <a:srgbClr val="191919"/>
                        </a:solidFill>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Improving transliteration accuracy between English and Hindi by incorporating multiple similarity criteria.</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Does not address the challenge of transliteration in context-dependent scenarios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4">
                            <a:extLst>
                              <a:ext uri="{A12FA001-AC4F-418D-AE19-62706E023703}">
                                <ahyp:hlinkClr val="tx"/>
                              </a:ext>
                            </a:extLst>
                          </a:hlinkClick>
                        </a:rPr>
                        <a:t>Investigating Emotion Embedding based TTS Models under limited data</a:t>
                      </a:r>
                      <a:endParaRPr b="1" sz="1100">
                        <a:solidFill>
                          <a:srgbClr val="191919"/>
                        </a:solidFill>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Zhu model performs well on the emotion vs neutral speech task, StrengthNet model performs poorly even with larger training sets.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The paper does not explore the effect of training time on the Zhu et al. (2019) methodology, which has a high computational complexity.</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spcBef>
                          <a:spcPts val="0"/>
                        </a:spcBef>
                        <a:spcAft>
                          <a:spcPts val="0"/>
                        </a:spcAft>
                        <a:buNone/>
                      </a:pPr>
                      <a:r>
                        <a:rPr b="1" lang="en-GB" sz="1100" u="sng">
                          <a:solidFill>
                            <a:srgbClr val="191919"/>
                          </a:solidFill>
                          <a:latin typeface="Montserrat"/>
                          <a:ea typeface="Montserrat"/>
                          <a:cs typeface="Montserrat"/>
                          <a:sym typeface="Montserrat"/>
                          <a:hlinkClick r:id="rId5">
                            <a:extLst>
                              <a:ext uri="{A12FA001-AC4F-418D-AE19-62706E023703}">
                                <ahyp:hlinkClr val="tx"/>
                              </a:ext>
                            </a:extLst>
                          </a:hlinkClick>
                        </a:rPr>
                        <a:t>Creating Accented TTS English voices to facilitate second language learning</a:t>
                      </a:r>
                      <a:endParaRPr b="1" sz="1100">
                        <a:solidFill>
                          <a:srgbClr val="191919"/>
                        </a:solidFill>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Accented text-to-speech (TTS) voices can significantly enhance second language learning</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Does not explore the long-term impact of accented TTS voices on learners' speaking proficiency and sustained effectiveness.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893375">
                <a:tc>
                  <a:txBody>
                    <a:bodyPr/>
                    <a:lstStyle/>
                    <a:p>
                      <a:pPr indent="0" lvl="0" marL="0" rtl="0" algn="l">
                        <a:spcBef>
                          <a:spcPts val="0"/>
                        </a:spcBef>
                        <a:spcAft>
                          <a:spcPts val="0"/>
                        </a:spcAft>
                        <a:buNone/>
                      </a:pPr>
                      <a:r>
                        <a:rPr b="1" lang="en-GB" sz="1100" u="sng">
                          <a:solidFill>
                            <a:srgbClr val="191919"/>
                          </a:solidFill>
                          <a:latin typeface="Montserrat"/>
                          <a:ea typeface="Montserrat"/>
                          <a:cs typeface="Montserrat"/>
                          <a:sym typeface="Montserrat"/>
                          <a:hlinkClick r:id="rId6">
                            <a:extLst>
                              <a:ext uri="{A12FA001-AC4F-418D-AE19-62706E023703}">
                                <ahyp:hlinkClr val="tx"/>
                              </a:ext>
                            </a:extLst>
                          </a:hlinkClick>
                        </a:rPr>
                        <a:t>Multilingual Emotional Text-to-Speech by</a:t>
                      </a:r>
                      <a:endParaRPr b="1" sz="1100">
                        <a:solidFill>
                          <a:srgbClr val="191919"/>
                        </a:solidFill>
                        <a:latin typeface="Montserrat"/>
                        <a:ea typeface="Montserrat"/>
                        <a:cs typeface="Montserrat"/>
                        <a:sym typeface="Montserrat"/>
                      </a:endParaRPr>
                    </a:p>
                    <a:p>
                      <a:pPr indent="0" lvl="0" marL="0" rtl="0" algn="l">
                        <a:spcBef>
                          <a:spcPts val="0"/>
                        </a:spcBef>
                        <a:spcAft>
                          <a:spcPts val="0"/>
                        </a:spcAft>
                        <a:buNone/>
                      </a:pPr>
                      <a:r>
                        <a:rPr b="1" lang="en-GB" sz="1100" u="sng">
                          <a:solidFill>
                            <a:srgbClr val="191919"/>
                          </a:solidFill>
                          <a:latin typeface="Montserrat"/>
                          <a:ea typeface="Montserrat"/>
                          <a:cs typeface="Montserrat"/>
                          <a:sym typeface="Montserrat"/>
                          <a:hlinkClick r:id="rId7">
                            <a:extLst>
                              <a:ext uri="{A12FA001-AC4F-418D-AE19-62706E023703}">
                                <ahyp:hlinkClr val="tx"/>
                              </a:ext>
                            </a:extLst>
                          </a:hlinkClick>
                        </a:rPr>
                        <a:t>Cross-speaker and Cross-lingual Emotion Transfer</a:t>
                      </a:r>
                      <a:endParaRPr b="1" sz="1100">
                        <a:solidFill>
                          <a:srgbClr val="191919"/>
                        </a:solidFill>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StrengthNet &amp; Data Preparation</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Models performed well on the emotion vs. neutral task but poorly on the emotion classification task</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nvSpPr>
        <p:spPr>
          <a:xfrm>
            <a:off x="522375" y="0"/>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600">
                <a:solidFill>
                  <a:srgbClr val="191919"/>
                </a:solidFill>
                <a:latin typeface="Montserrat"/>
                <a:ea typeface="Montserrat"/>
                <a:cs typeface="Montserrat"/>
                <a:sym typeface="Montserrat"/>
              </a:rPr>
              <a:t>Literature Review &amp; Existing Systems</a:t>
            </a:r>
            <a:endParaRPr b="1" sz="2600">
              <a:solidFill>
                <a:srgbClr val="191919"/>
              </a:solidFill>
              <a:latin typeface="Montserrat"/>
              <a:ea typeface="Montserrat"/>
              <a:cs typeface="Montserrat"/>
              <a:sym typeface="Montserrat"/>
            </a:endParaRPr>
          </a:p>
        </p:txBody>
      </p:sp>
      <p:graphicFrame>
        <p:nvGraphicFramePr>
          <p:cNvPr id="131" name="Google Shape;131;p19"/>
          <p:cNvGraphicFramePr/>
          <p:nvPr/>
        </p:nvGraphicFramePr>
        <p:xfrm>
          <a:off x="522363" y="455798"/>
          <a:ext cx="3000000" cy="3000000"/>
        </p:xfrm>
        <a:graphic>
          <a:graphicData uri="http://schemas.openxmlformats.org/drawingml/2006/table">
            <a:tbl>
              <a:tblPr>
                <a:noFill/>
                <a:tableStyleId>{FA1A2A1E-309B-48B8-9EE2-45F2411D3D53}</a:tableStyleId>
              </a:tblPr>
              <a:tblGrid>
                <a:gridCol w="3348125"/>
                <a:gridCol w="2038125"/>
                <a:gridCol w="2515375"/>
              </a:tblGrid>
              <a:tr h="464125">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Name</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Key Points</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rgbClr val="191919"/>
                          </a:solidFill>
                          <a:latin typeface="Montserrat"/>
                          <a:ea typeface="Montserrat"/>
                          <a:cs typeface="Montserrat"/>
                          <a:sym typeface="Montserrat"/>
                        </a:rPr>
                        <a:t>Research Gap</a:t>
                      </a:r>
                      <a:endParaRPr b="1">
                        <a:solidFill>
                          <a:srgbClr val="191919"/>
                        </a:solidFill>
                        <a:latin typeface="Montserrat"/>
                        <a:ea typeface="Montserrat"/>
                        <a:cs typeface="Montserrat"/>
                        <a:sym typeface="Montserrat"/>
                      </a:endParaRPr>
                    </a:p>
                  </a:txBody>
                  <a:tcPr marT="91425" marB="91425" marR="91425" marL="91425" anchor="b">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alpha val="0"/>
                        </a:srgbClr>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3">
                            <a:extLst>
                              <a:ext uri="{A12FA001-AC4F-418D-AE19-62706E023703}">
                                <ahyp:hlinkClr val="tx"/>
                              </a:ext>
                            </a:extLst>
                          </a:hlinkClick>
                        </a:rPr>
                        <a:t>A Review of Deep Learning Based Speech Synthesis</a:t>
                      </a:r>
                      <a:endParaRPr b="1" sz="1100">
                        <a:solidFill>
                          <a:srgbClr val="191919"/>
                        </a:solidFill>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Deep bidirectional LSTM, and sequence to sequence models, have been applied to speech synthesis.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Exploring semi-structured or supervised learning techniques for efficiency.</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4">
                            <a:extLst>
                              <a:ext uri="{A12FA001-AC4F-418D-AE19-62706E023703}">
                                <ahyp:hlinkClr val="tx"/>
                              </a:ext>
                            </a:extLst>
                          </a:hlinkClick>
                        </a:rPr>
                        <a:t>Natural language guidance of high-fidelity text-to-speech with synthetic annotations</a:t>
                      </a:r>
                      <a:endParaRPr b="1"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Labeling and controlling various aspects of speaker identity, style, and recording conditions in tts synthesis using natural language descriptions.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Enhancing controllability, improving naturalness further and adapting to specific domains</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5">
                            <a:extLst>
                              <a:ext uri="{A12FA001-AC4F-418D-AE19-62706E023703}">
                                <ahyp:hlinkClr val="tx"/>
                              </a:ext>
                            </a:extLst>
                          </a:hlinkClick>
                        </a:rPr>
                        <a:t>OpenVoice: Versatile Instant Voice Cloning </a:t>
                      </a:r>
                      <a:endParaRPr b="1"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Decoupled Framework, Cross Lingual Approach needs lesser data</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Tone Color Cloning</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r h="470975">
                <a:tc>
                  <a:txBody>
                    <a:bodyPr/>
                    <a:lstStyle/>
                    <a:p>
                      <a:pPr indent="0" lvl="0" marL="0" rtl="0" algn="l">
                        <a:lnSpc>
                          <a:spcPct val="100000"/>
                        </a:lnSpc>
                        <a:spcBef>
                          <a:spcPts val="0"/>
                        </a:spcBef>
                        <a:spcAft>
                          <a:spcPts val="0"/>
                        </a:spcAft>
                        <a:buNone/>
                      </a:pPr>
                      <a:r>
                        <a:rPr b="1" lang="en-GB" sz="1100" u="sng">
                          <a:solidFill>
                            <a:srgbClr val="191919"/>
                          </a:solidFill>
                          <a:latin typeface="Montserrat"/>
                          <a:ea typeface="Montserrat"/>
                          <a:cs typeface="Montserrat"/>
                          <a:sym typeface="Montserrat"/>
                          <a:hlinkClick r:id="rId6">
                            <a:extLst>
                              <a:ext uri="{A12FA001-AC4F-418D-AE19-62706E023703}">
                                <ahyp:hlinkClr val="tx"/>
                              </a:ext>
                            </a:extLst>
                          </a:hlinkClick>
                        </a:rPr>
                        <a:t>SpeechT5: Unified-Modal Encoder-Decoder Pre-Training for Spoken Language Processing</a:t>
                      </a:r>
                      <a:endParaRPr b="1"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Encoder-decoder framework. Outperforms other TTS architecture.</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c>
                  <a:txBody>
                    <a:bodyPr/>
                    <a:lstStyle/>
                    <a:p>
                      <a:pPr indent="0" lvl="0" marL="0" rtl="0" algn="l">
                        <a:spcBef>
                          <a:spcPts val="0"/>
                        </a:spcBef>
                        <a:spcAft>
                          <a:spcPts val="0"/>
                        </a:spcAft>
                        <a:buNone/>
                      </a:pPr>
                      <a:r>
                        <a:rPr lang="en-GB" sz="1100">
                          <a:latin typeface="Montserrat"/>
                          <a:ea typeface="Montserrat"/>
                          <a:cs typeface="Montserrat"/>
                          <a:sym typeface="Montserrat"/>
                        </a:rPr>
                        <a:t>Using larger models, and more unlabeled data for pre-training as well as extending speech T5 to multi-lingual spoken language processing task.</a:t>
                      </a:r>
                      <a:endParaRPr sz="1100">
                        <a:latin typeface="Montserrat"/>
                        <a:ea typeface="Montserrat"/>
                        <a:cs typeface="Montserrat"/>
                        <a:sym typeface="Montserrat"/>
                      </a:endParaRPr>
                    </a:p>
                  </a:txBody>
                  <a:tcPr marT="91425" marB="91425" marR="91425" marL="91425" anchor="ctr">
                    <a:lnL cap="flat" cmpd="sng" w="9525">
                      <a:solidFill>
                        <a:srgbClr val="191919">
                          <a:alpha val="0"/>
                        </a:srgbClr>
                      </a:solidFill>
                      <a:prstDash val="solid"/>
                      <a:round/>
                      <a:headEnd len="sm" w="sm" type="none"/>
                      <a:tailEnd len="sm" w="sm" type="none"/>
                    </a:lnL>
                    <a:lnR cap="flat" cmpd="sng" w="9525">
                      <a:solidFill>
                        <a:srgbClr val="191919">
                          <a:alpha val="0"/>
                        </a:srgbClr>
                      </a:solidFill>
                      <a:prstDash val="solid"/>
                      <a:round/>
                      <a:headEnd len="sm" w="sm" type="none"/>
                      <a:tailEnd len="sm" w="sm" type="none"/>
                    </a:lnR>
                    <a:lnT cap="flat" cmpd="sng" w="9525">
                      <a:solidFill>
                        <a:srgbClr val="191919"/>
                      </a:solidFill>
                      <a:prstDash val="solid"/>
                      <a:round/>
                      <a:headEnd len="sm" w="sm" type="none"/>
                      <a:tailEnd len="sm" w="sm" type="none"/>
                    </a:lnT>
                    <a:lnB cap="flat" cmpd="sng" w="9525">
                      <a:solidFill>
                        <a:srgbClr val="191919"/>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rgbClr val="191919"/>
                </a:solidFill>
                <a:latin typeface="Montserrat"/>
                <a:ea typeface="Montserrat"/>
                <a:cs typeface="Montserrat"/>
                <a:sym typeface="Montserrat"/>
              </a:rPr>
              <a:t>Common Limitations</a:t>
            </a:r>
            <a:endParaRPr b="1" sz="3000">
              <a:solidFill>
                <a:srgbClr val="191919"/>
              </a:solidFill>
              <a:latin typeface="Montserrat"/>
              <a:ea typeface="Montserrat"/>
              <a:cs typeface="Montserrat"/>
              <a:sym typeface="Montserrat"/>
            </a:endParaRPr>
          </a:p>
        </p:txBody>
      </p:sp>
      <p:sp>
        <p:nvSpPr>
          <p:cNvPr id="137" name="Google Shape;137;p20"/>
          <p:cNvSpPr txBox="1"/>
          <p:nvPr/>
        </p:nvSpPr>
        <p:spPr>
          <a:xfrm>
            <a:off x="720000" y="1215750"/>
            <a:ext cx="7395600" cy="33249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rgbClr val="191919"/>
              </a:buClr>
              <a:buSzPts val="1900"/>
              <a:buFont typeface="Atkinson Hyperlegible"/>
              <a:buAutoNum type="arabicPeriod"/>
            </a:pPr>
            <a:r>
              <a:rPr lang="en-GB" sz="1900">
                <a:solidFill>
                  <a:srgbClr val="191919"/>
                </a:solidFill>
                <a:latin typeface="Atkinson Hyperlegible"/>
                <a:ea typeface="Atkinson Hyperlegible"/>
                <a:cs typeface="Atkinson Hyperlegible"/>
                <a:sym typeface="Atkinson Hyperlegible"/>
              </a:rPr>
              <a:t>Multilingual Support</a:t>
            </a:r>
            <a:endParaRPr sz="1900">
              <a:solidFill>
                <a:srgbClr val="191919"/>
              </a:solidFill>
              <a:latin typeface="Atkinson Hyperlegible"/>
              <a:ea typeface="Atkinson Hyperlegible"/>
              <a:cs typeface="Atkinson Hyperlegible"/>
              <a:sym typeface="Atkinson Hyperlegible"/>
            </a:endParaRPr>
          </a:p>
          <a:p>
            <a:pPr indent="-349250" lvl="0" marL="457200" rtl="0" algn="l">
              <a:lnSpc>
                <a:spcPct val="150000"/>
              </a:lnSpc>
              <a:spcBef>
                <a:spcPts val="0"/>
              </a:spcBef>
              <a:spcAft>
                <a:spcPts val="0"/>
              </a:spcAft>
              <a:buClr>
                <a:srgbClr val="191919"/>
              </a:buClr>
              <a:buSzPts val="1900"/>
              <a:buFont typeface="Atkinson Hyperlegible"/>
              <a:buAutoNum type="arabicPeriod"/>
            </a:pPr>
            <a:r>
              <a:rPr lang="en-GB" sz="1900">
                <a:solidFill>
                  <a:srgbClr val="191919"/>
                </a:solidFill>
                <a:latin typeface="Atkinson Hyperlegible"/>
                <a:ea typeface="Atkinson Hyperlegible"/>
                <a:cs typeface="Atkinson Hyperlegible"/>
                <a:sym typeface="Atkinson Hyperlegible"/>
              </a:rPr>
              <a:t>Unexplored path of Transliteration</a:t>
            </a:r>
            <a:endParaRPr sz="1900">
              <a:solidFill>
                <a:srgbClr val="191919"/>
              </a:solidFill>
              <a:latin typeface="Atkinson Hyperlegible"/>
              <a:ea typeface="Atkinson Hyperlegible"/>
              <a:cs typeface="Atkinson Hyperlegible"/>
              <a:sym typeface="Atkinson Hyperlegible"/>
            </a:endParaRPr>
          </a:p>
          <a:p>
            <a:pPr indent="-349250" lvl="0" marL="457200" rtl="0" algn="l">
              <a:lnSpc>
                <a:spcPct val="150000"/>
              </a:lnSpc>
              <a:spcBef>
                <a:spcPts val="0"/>
              </a:spcBef>
              <a:spcAft>
                <a:spcPts val="0"/>
              </a:spcAft>
              <a:buClr>
                <a:srgbClr val="191919"/>
              </a:buClr>
              <a:buSzPts val="1900"/>
              <a:buFont typeface="Atkinson Hyperlegible"/>
              <a:buAutoNum type="arabicPeriod"/>
            </a:pPr>
            <a:r>
              <a:rPr lang="en-GB" sz="1900">
                <a:solidFill>
                  <a:srgbClr val="191919"/>
                </a:solidFill>
                <a:latin typeface="Atkinson Hyperlegible"/>
                <a:ea typeface="Atkinson Hyperlegible"/>
                <a:cs typeface="Atkinson Hyperlegible"/>
                <a:sym typeface="Atkinson Hyperlegible"/>
              </a:rPr>
              <a:t>Lack of emotion </a:t>
            </a:r>
            <a:endParaRPr sz="1900">
              <a:solidFill>
                <a:srgbClr val="191919"/>
              </a:solidFill>
              <a:latin typeface="Atkinson Hyperlegible"/>
              <a:ea typeface="Atkinson Hyperlegible"/>
              <a:cs typeface="Atkinson Hyperlegible"/>
              <a:sym typeface="Atkinson Hyperlegible"/>
            </a:endParaRPr>
          </a:p>
          <a:p>
            <a:pPr indent="-349250" lvl="0" marL="457200" rtl="0" algn="l">
              <a:lnSpc>
                <a:spcPct val="150000"/>
              </a:lnSpc>
              <a:spcBef>
                <a:spcPts val="0"/>
              </a:spcBef>
              <a:spcAft>
                <a:spcPts val="0"/>
              </a:spcAft>
              <a:buClr>
                <a:srgbClr val="191919"/>
              </a:buClr>
              <a:buSzPts val="1900"/>
              <a:buFont typeface="Atkinson Hyperlegible"/>
              <a:buAutoNum type="arabicPeriod"/>
            </a:pPr>
            <a:r>
              <a:rPr lang="en-GB" sz="1900">
                <a:solidFill>
                  <a:srgbClr val="191919"/>
                </a:solidFill>
                <a:latin typeface="Atkinson Hyperlegible"/>
                <a:ea typeface="Atkinson Hyperlegible"/>
                <a:cs typeface="Atkinson Hyperlegible"/>
                <a:sym typeface="Atkinson Hyperlegible"/>
              </a:rPr>
              <a:t>Lack of research in Indic Languages</a:t>
            </a:r>
            <a:endParaRPr sz="1900">
              <a:solidFill>
                <a:srgbClr val="191919"/>
              </a:solidFill>
              <a:latin typeface="Atkinson Hyperlegible"/>
              <a:ea typeface="Atkinson Hyperlegible"/>
              <a:cs typeface="Atkinson Hyperlegible"/>
              <a:sym typeface="Atkinson Hyperlegible"/>
            </a:endParaRPr>
          </a:p>
          <a:p>
            <a:pPr indent="-349250" lvl="0" marL="457200" rtl="0" algn="l">
              <a:lnSpc>
                <a:spcPct val="150000"/>
              </a:lnSpc>
              <a:spcBef>
                <a:spcPts val="0"/>
              </a:spcBef>
              <a:spcAft>
                <a:spcPts val="0"/>
              </a:spcAft>
              <a:buClr>
                <a:srgbClr val="191919"/>
              </a:buClr>
              <a:buSzPts val="1900"/>
              <a:buFont typeface="Atkinson Hyperlegible"/>
              <a:buAutoNum type="arabicPeriod"/>
            </a:pPr>
            <a:r>
              <a:rPr lang="en-GB" sz="1900">
                <a:solidFill>
                  <a:srgbClr val="191919"/>
                </a:solidFill>
                <a:latin typeface="Atkinson Hyperlegible"/>
                <a:ea typeface="Atkinson Hyperlegible"/>
                <a:cs typeface="Atkinson Hyperlegible"/>
                <a:sym typeface="Atkinson Hyperlegible"/>
              </a:rPr>
              <a:t>Available open-source models are difficult to integrate and fine-tune for small SaaS companies who want to integrate TTS.</a:t>
            </a:r>
            <a:endParaRPr sz="1900">
              <a:solidFill>
                <a:srgbClr val="191919"/>
              </a:solidFill>
              <a:latin typeface="Atkinson Hyperlegible"/>
              <a:ea typeface="Atkinson Hyperlegible"/>
              <a:cs typeface="Atkinson Hyperlegible"/>
              <a:sym typeface="Atkinson Hyperlegible"/>
            </a:endParaRPr>
          </a:p>
          <a:p>
            <a:pPr indent="0" lvl="0" marL="0" rtl="0" algn="l">
              <a:lnSpc>
                <a:spcPct val="150000"/>
              </a:lnSpc>
              <a:spcBef>
                <a:spcPts val="0"/>
              </a:spcBef>
              <a:spcAft>
                <a:spcPts val="0"/>
              </a:spcAft>
              <a:buNone/>
            </a:pPr>
            <a:r>
              <a:t/>
            </a:r>
            <a:endParaRPr sz="1900">
              <a:solidFill>
                <a:srgbClr val="191919"/>
              </a:solidFill>
              <a:latin typeface="Atkinson Hyperlegible"/>
              <a:ea typeface="Atkinson Hyperlegible"/>
              <a:cs typeface="Atkinson Hyperlegible"/>
              <a:sym typeface="Atkinson Hyperlegibl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nvSpPr>
        <p:spPr>
          <a:xfrm>
            <a:off x="1898388" y="435225"/>
            <a:ext cx="5347200" cy="6018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GB" sz="4000">
                <a:solidFill>
                  <a:srgbClr val="191919"/>
                </a:solidFill>
                <a:latin typeface="Montserrat"/>
                <a:ea typeface="Montserrat"/>
                <a:cs typeface="Montserrat"/>
                <a:sym typeface="Montserrat"/>
              </a:rPr>
              <a:t>Model Architecture</a:t>
            </a:r>
            <a:endParaRPr b="1" sz="4000">
              <a:solidFill>
                <a:srgbClr val="191919"/>
              </a:solidFill>
              <a:latin typeface="Montserrat"/>
              <a:ea typeface="Montserrat"/>
              <a:cs typeface="Montserrat"/>
              <a:sym typeface="Montserrat"/>
            </a:endParaRPr>
          </a:p>
        </p:txBody>
      </p:sp>
      <p:pic>
        <p:nvPicPr>
          <p:cNvPr id="143" name="Google Shape;143;p21"/>
          <p:cNvPicPr preferRelativeResize="0"/>
          <p:nvPr/>
        </p:nvPicPr>
        <p:blipFill>
          <a:blip r:embed="rId3">
            <a:alphaModFix/>
          </a:blip>
          <a:stretch>
            <a:fillRect/>
          </a:stretch>
        </p:blipFill>
        <p:spPr>
          <a:xfrm>
            <a:off x="245500" y="1524275"/>
            <a:ext cx="8652977" cy="2894275"/>
          </a:xfrm>
          <a:prstGeom prst="rect">
            <a:avLst/>
          </a:prstGeom>
          <a:noFill/>
          <a:ln cap="flat" cmpd="sng" w="9525">
            <a:solidFill>
              <a:srgbClr val="191919"/>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nvSpPr>
        <p:spPr>
          <a:xfrm>
            <a:off x="720000" y="190525"/>
            <a:ext cx="770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solidFill>
                  <a:srgbClr val="191919"/>
                </a:solidFill>
                <a:latin typeface="Montserrat"/>
                <a:ea typeface="Montserrat"/>
                <a:cs typeface="Montserrat"/>
                <a:sym typeface="Montserrat"/>
              </a:rPr>
              <a:t>Results : Indian Accent</a:t>
            </a:r>
            <a:endParaRPr b="1" sz="3000">
              <a:solidFill>
                <a:srgbClr val="191919"/>
              </a:solidFill>
              <a:latin typeface="Montserrat"/>
              <a:ea typeface="Montserrat"/>
              <a:cs typeface="Montserrat"/>
              <a:sym typeface="Montserrat"/>
            </a:endParaRPr>
          </a:p>
        </p:txBody>
      </p:sp>
      <p:graphicFrame>
        <p:nvGraphicFramePr>
          <p:cNvPr id="149" name="Google Shape;149;p22"/>
          <p:cNvGraphicFramePr/>
          <p:nvPr/>
        </p:nvGraphicFramePr>
        <p:xfrm>
          <a:off x="952500" y="998650"/>
          <a:ext cx="3000000" cy="3000000"/>
        </p:xfrm>
        <a:graphic>
          <a:graphicData uri="http://schemas.openxmlformats.org/drawingml/2006/table">
            <a:tbl>
              <a:tblPr>
                <a:noFill/>
                <a:tableStyleId>{694523B5-A34C-4306-8460-BE439DEF8E00}</a:tableStyleId>
              </a:tblPr>
              <a:tblGrid>
                <a:gridCol w="3672050"/>
                <a:gridCol w="2493400"/>
                <a:gridCol w="1073550"/>
              </a:tblGrid>
              <a:tr h="381000">
                <a:tc>
                  <a:txBody>
                    <a:bodyPr/>
                    <a:lstStyle/>
                    <a:p>
                      <a:pPr indent="0" lvl="0" marL="0" rtl="0" algn="ctr">
                        <a:spcBef>
                          <a:spcPts val="0"/>
                        </a:spcBef>
                        <a:spcAft>
                          <a:spcPts val="0"/>
                        </a:spcAft>
                        <a:buNone/>
                      </a:pPr>
                      <a:r>
                        <a:rPr b="1" lang="en-GB"/>
                        <a:t>Prompt</a:t>
                      </a:r>
                      <a:endParaRPr b="1"/>
                    </a:p>
                  </a:txBody>
                  <a:tcPr marT="91425" marB="91425" marR="91425" marL="91425"/>
                </a:tc>
                <a:tc>
                  <a:txBody>
                    <a:bodyPr/>
                    <a:lstStyle/>
                    <a:p>
                      <a:pPr indent="0" lvl="0" marL="0" rtl="0" algn="ctr">
                        <a:spcBef>
                          <a:spcPts val="0"/>
                        </a:spcBef>
                        <a:spcAft>
                          <a:spcPts val="0"/>
                        </a:spcAft>
                        <a:buNone/>
                      </a:pPr>
                      <a:r>
                        <a:rPr b="1" lang="en-GB"/>
                        <a:t>Description</a:t>
                      </a:r>
                      <a:endParaRPr b="1"/>
                    </a:p>
                  </a:txBody>
                  <a:tcPr marT="91425" marB="91425" marR="91425" marL="91425"/>
                </a:tc>
                <a:tc>
                  <a:txBody>
                    <a:bodyPr/>
                    <a:lstStyle/>
                    <a:p>
                      <a:pPr indent="0" lvl="0" marL="0" rtl="0" algn="ctr">
                        <a:spcBef>
                          <a:spcPts val="0"/>
                        </a:spcBef>
                        <a:spcAft>
                          <a:spcPts val="0"/>
                        </a:spcAft>
                        <a:buNone/>
                      </a:pPr>
                      <a:r>
                        <a:rPr b="1" lang="en-GB"/>
                        <a:t>Audio</a:t>
                      </a:r>
                      <a:endParaRPr b="1"/>
                    </a:p>
                  </a:txBody>
                  <a:tcPr marT="91425" marB="91425" marR="91425" marL="91425"/>
                </a:tc>
              </a:tr>
              <a:tr h="381000">
                <a:tc>
                  <a:txBody>
                    <a:bodyPr/>
                    <a:lstStyle/>
                    <a:p>
                      <a:pPr indent="0" lvl="0" marL="0" rtl="0" algn="l">
                        <a:spcBef>
                          <a:spcPts val="0"/>
                        </a:spcBef>
                        <a:spcAft>
                          <a:spcPts val="0"/>
                        </a:spcAft>
                        <a:buNone/>
                      </a:pPr>
                      <a:r>
                        <a:rPr lang="en-GB"/>
                        <a:t>Can you tell me if there is a lift in the building?</a:t>
                      </a:r>
                      <a:endParaRPr/>
                    </a:p>
                  </a:txBody>
                  <a:tcPr marT="91425" marB="91425" marR="91425" marL="91425"/>
                </a:tc>
                <a:tc rowSpan="4">
                  <a:txBody>
                    <a:bodyPr/>
                    <a:lstStyle/>
                    <a:p>
                      <a:pPr indent="0" lvl="0" marL="0" rtl="0" algn="l">
                        <a:spcBef>
                          <a:spcPts val="0"/>
                        </a:spcBef>
                        <a:spcAft>
                          <a:spcPts val="0"/>
                        </a:spcAft>
                        <a:buNone/>
                      </a:pPr>
                      <a:r>
                        <a:rPr lang="en-GB"/>
                        <a:t>Akshansh delivers his words quite expressively, in a very confined sounding environment with clear audio quality. He speaks fast.</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a:t>I immediately filled my electric kettle with filtered water to prepare my morning coffee.</a:t>
                      </a:r>
                      <a:endParaRPr/>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a:t>I go to work by public transport. It is a 1 hour transit.</a:t>
                      </a:r>
                      <a:endParaRPr/>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a:t>Although I had my internships going on, I scored well in my exams.</a:t>
                      </a:r>
                      <a:endParaRPr/>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50" name="Google Shape;150;p22" title="ind_accent_audio1.wav">
            <a:hlinkClick r:id="rId3"/>
          </p:cNvPr>
          <p:cNvPicPr preferRelativeResize="0"/>
          <p:nvPr/>
        </p:nvPicPr>
        <p:blipFill>
          <a:blip r:embed="rId4">
            <a:alphaModFix/>
          </a:blip>
          <a:stretch>
            <a:fillRect/>
          </a:stretch>
        </p:blipFill>
        <p:spPr>
          <a:xfrm>
            <a:off x="7439000" y="1480650"/>
            <a:ext cx="457200" cy="457200"/>
          </a:xfrm>
          <a:prstGeom prst="rect">
            <a:avLst/>
          </a:prstGeom>
          <a:noFill/>
          <a:ln>
            <a:noFill/>
          </a:ln>
        </p:spPr>
      </p:pic>
      <p:pic>
        <p:nvPicPr>
          <p:cNvPr id="151" name="Google Shape;151;p22" title="ind_accent_audio2.wav">
            <a:hlinkClick r:id="rId5"/>
          </p:cNvPr>
          <p:cNvPicPr preferRelativeResize="0"/>
          <p:nvPr/>
        </p:nvPicPr>
        <p:blipFill>
          <a:blip r:embed="rId4">
            <a:alphaModFix/>
          </a:blip>
          <a:stretch>
            <a:fillRect/>
          </a:stretch>
        </p:blipFill>
        <p:spPr>
          <a:xfrm>
            <a:off x="7439000" y="2102025"/>
            <a:ext cx="457200" cy="457200"/>
          </a:xfrm>
          <a:prstGeom prst="rect">
            <a:avLst/>
          </a:prstGeom>
          <a:noFill/>
          <a:ln>
            <a:noFill/>
          </a:ln>
        </p:spPr>
      </p:pic>
      <p:pic>
        <p:nvPicPr>
          <p:cNvPr id="152" name="Google Shape;152;p22" title="ind_accent_audio3.wav">
            <a:hlinkClick r:id="rId6"/>
          </p:cNvPr>
          <p:cNvPicPr preferRelativeResize="0"/>
          <p:nvPr/>
        </p:nvPicPr>
        <p:blipFill>
          <a:blip r:embed="rId4">
            <a:alphaModFix/>
          </a:blip>
          <a:stretch>
            <a:fillRect/>
          </a:stretch>
        </p:blipFill>
        <p:spPr>
          <a:xfrm>
            <a:off x="7439000" y="2723400"/>
            <a:ext cx="457200" cy="457200"/>
          </a:xfrm>
          <a:prstGeom prst="rect">
            <a:avLst/>
          </a:prstGeom>
          <a:noFill/>
          <a:ln>
            <a:noFill/>
          </a:ln>
        </p:spPr>
      </p:pic>
      <p:pic>
        <p:nvPicPr>
          <p:cNvPr id="153" name="Google Shape;153;p22" title="ind_accent_audio4.wav">
            <a:hlinkClick r:id="rId7"/>
          </p:cNvPr>
          <p:cNvPicPr preferRelativeResize="0"/>
          <p:nvPr/>
        </p:nvPicPr>
        <p:blipFill>
          <a:blip r:embed="rId4">
            <a:alphaModFix/>
          </a:blip>
          <a:stretch>
            <a:fillRect/>
          </a:stretch>
        </p:blipFill>
        <p:spPr>
          <a:xfrm>
            <a:off x="7439000" y="3344775"/>
            <a:ext cx="45720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nvSpPr>
        <p:spPr>
          <a:xfrm>
            <a:off x="720000" y="177150"/>
            <a:ext cx="770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solidFill>
                  <a:srgbClr val="191919"/>
                </a:solidFill>
                <a:latin typeface="Montserrat"/>
                <a:ea typeface="Montserrat"/>
                <a:cs typeface="Montserrat"/>
                <a:sym typeface="Montserrat"/>
              </a:rPr>
              <a:t>Results : Hindi</a:t>
            </a:r>
            <a:endParaRPr b="1" sz="3000">
              <a:solidFill>
                <a:srgbClr val="191919"/>
              </a:solidFill>
              <a:latin typeface="Montserrat"/>
              <a:ea typeface="Montserrat"/>
              <a:cs typeface="Montserrat"/>
              <a:sym typeface="Montserrat"/>
            </a:endParaRPr>
          </a:p>
        </p:txBody>
      </p:sp>
      <p:graphicFrame>
        <p:nvGraphicFramePr>
          <p:cNvPr id="159" name="Google Shape;159;p23"/>
          <p:cNvGraphicFramePr/>
          <p:nvPr/>
        </p:nvGraphicFramePr>
        <p:xfrm>
          <a:off x="952500" y="956450"/>
          <a:ext cx="3000000" cy="3000000"/>
        </p:xfrm>
        <a:graphic>
          <a:graphicData uri="http://schemas.openxmlformats.org/drawingml/2006/table">
            <a:tbl>
              <a:tblPr>
                <a:noFill/>
                <a:tableStyleId>{694523B5-A34C-4306-8460-BE439DEF8E00}</a:tableStyleId>
              </a:tblPr>
              <a:tblGrid>
                <a:gridCol w="3819375"/>
                <a:gridCol w="2346075"/>
                <a:gridCol w="1073550"/>
              </a:tblGrid>
              <a:tr h="381000">
                <a:tc>
                  <a:txBody>
                    <a:bodyPr/>
                    <a:lstStyle/>
                    <a:p>
                      <a:pPr indent="0" lvl="0" marL="0" rtl="0" algn="ctr">
                        <a:spcBef>
                          <a:spcPts val="0"/>
                        </a:spcBef>
                        <a:spcAft>
                          <a:spcPts val="0"/>
                        </a:spcAft>
                        <a:buNone/>
                      </a:pPr>
                      <a:r>
                        <a:rPr b="1" lang="en-GB"/>
                        <a:t>Prompt</a:t>
                      </a:r>
                      <a:endParaRPr b="1"/>
                    </a:p>
                  </a:txBody>
                  <a:tcPr marT="91425" marB="91425" marR="91425" marL="91425"/>
                </a:tc>
                <a:tc>
                  <a:txBody>
                    <a:bodyPr/>
                    <a:lstStyle/>
                    <a:p>
                      <a:pPr indent="0" lvl="0" marL="0" rtl="0" algn="ctr">
                        <a:spcBef>
                          <a:spcPts val="0"/>
                        </a:spcBef>
                        <a:spcAft>
                          <a:spcPts val="0"/>
                        </a:spcAft>
                        <a:buNone/>
                      </a:pPr>
                      <a:r>
                        <a:rPr b="1" lang="en-GB"/>
                        <a:t>Description</a:t>
                      </a:r>
                      <a:endParaRPr b="1"/>
                    </a:p>
                  </a:txBody>
                  <a:tcPr marT="91425" marB="91425" marR="91425" marL="91425"/>
                </a:tc>
                <a:tc>
                  <a:txBody>
                    <a:bodyPr/>
                    <a:lstStyle/>
                    <a:p>
                      <a:pPr indent="0" lvl="0" marL="0" rtl="0" algn="ctr">
                        <a:spcBef>
                          <a:spcPts val="0"/>
                        </a:spcBef>
                        <a:spcAft>
                          <a:spcPts val="0"/>
                        </a:spcAft>
                        <a:buNone/>
                      </a:pPr>
                      <a:r>
                        <a:rPr b="1" lang="en-GB"/>
                        <a:t>Audio</a:t>
                      </a:r>
                      <a:endParaRPr b="1"/>
                    </a:p>
                  </a:txBody>
                  <a:tcPr marT="91425" marB="91425" marR="91425" marL="91425"/>
                </a:tc>
              </a:tr>
              <a:tr h="381000">
                <a:tc>
                  <a:txBody>
                    <a:bodyPr/>
                    <a:lstStyle/>
                    <a:p>
                      <a:pPr indent="0" lvl="0" marL="0" rtl="0" algn="l">
                        <a:lnSpc>
                          <a:spcPct val="115000"/>
                        </a:lnSpc>
                        <a:spcBef>
                          <a:spcPts val="0"/>
                        </a:spcBef>
                        <a:spcAft>
                          <a:spcPts val="0"/>
                        </a:spcAft>
                        <a:buNone/>
                      </a:pPr>
                      <a:r>
                        <a:rPr lang="en-GB" sz="1150"/>
                        <a:t>इंतज़ार करने वालों को सिर्फ़ उतना ही मिलता है जितना कोशिश करने वाले छोड़ देते हैं</a:t>
                      </a:r>
                      <a:endParaRPr sz="1500"/>
                    </a:p>
                  </a:txBody>
                  <a:tcPr marT="91425" marB="91425" marR="91425" marL="91425"/>
                </a:tc>
                <a:tc rowSpan="5">
                  <a:txBody>
                    <a:bodyPr/>
                    <a:lstStyle/>
                    <a:p>
                      <a:pPr indent="0" lvl="0" marL="0" rtl="0" algn="l">
                        <a:lnSpc>
                          <a:spcPct val="115000"/>
                        </a:lnSpc>
                        <a:spcBef>
                          <a:spcPts val="0"/>
                        </a:spcBef>
                        <a:spcAft>
                          <a:spcPts val="0"/>
                        </a:spcAft>
                        <a:buNone/>
                      </a:pPr>
                      <a:r>
                        <a:rPr lang="en-GB"/>
                        <a:t>Male Hindi Speaker, in Hindi delivers his words slowly and clearly, in a very calm sounding environment with clear audio quality. He speaks fast.</a:t>
                      </a:r>
                      <a:endParaRPr/>
                    </a:p>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sz="1150"/>
                        <a:t>तुम मुझे हमेशा सच्चाई बताने की कोशिश करते हो, लेकिन कभी-कभी सच कड़वा होता है</a:t>
                      </a:r>
                      <a:endParaRPr sz="1500"/>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sz="1150"/>
                        <a:t>अगर तुम चाहो तो हम इस शनिवार को बाहर घूमने जा सकते हैं</a:t>
                      </a:r>
                      <a:endParaRPr sz="1500"/>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sz="1150"/>
                        <a:t>यह किताब मुझे बहुत पसंद आई क्योंकि इसमें दिलचस्प कहानियाँ हैं</a:t>
                      </a:r>
                      <a:endParaRPr sz="1500"/>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r h="100000">
                <a:tc>
                  <a:txBody>
                    <a:bodyPr/>
                    <a:lstStyle/>
                    <a:p>
                      <a:pPr indent="0" lvl="0" marL="0" rtl="0" algn="l">
                        <a:lnSpc>
                          <a:spcPct val="115000"/>
                        </a:lnSpc>
                        <a:spcBef>
                          <a:spcPts val="0"/>
                        </a:spcBef>
                        <a:spcAft>
                          <a:spcPts val="0"/>
                        </a:spcAft>
                        <a:buNone/>
                      </a:pPr>
                      <a:r>
                        <a:rPr lang="en-GB" sz="1150"/>
                        <a:t>उसने अपनी पूरी ज़िन्दगी कठिनाइयों और संघर्षों में बिताई, लेकिन हमेशा अपने परिवार के लिए काम किया, बच्चों को अच्छी शिक्षा देने की कोशिश की और हर मुश्किल घड़ी में हिम्मत से काम लिया, जिससे आज वह सबके लिए एक प्रेरणा बन गया है।</a:t>
                      </a:r>
                      <a:endParaRPr sz="1150"/>
                    </a:p>
                    <a:p>
                      <a:pPr indent="0" lvl="0" marL="0" rtl="0" algn="l">
                        <a:spcBef>
                          <a:spcPts val="0"/>
                        </a:spcBef>
                        <a:spcAft>
                          <a:spcPts val="0"/>
                        </a:spcAft>
                        <a:buNone/>
                      </a:pPr>
                      <a:r>
                        <a:t/>
                      </a:r>
                      <a:endParaRPr sz="1500"/>
                    </a:p>
                  </a:txBody>
                  <a:tcPr marT="91425" marB="91425" marR="91425" marL="91425"/>
                </a:tc>
                <a:tc vMerge="1"/>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60" name="Google Shape;160;p23" title="hindi_audio1.wav">
            <a:hlinkClick r:id="rId3"/>
          </p:cNvPr>
          <p:cNvPicPr preferRelativeResize="0"/>
          <p:nvPr/>
        </p:nvPicPr>
        <p:blipFill>
          <a:blip r:embed="rId4">
            <a:alphaModFix/>
          </a:blip>
          <a:stretch>
            <a:fillRect/>
          </a:stretch>
        </p:blipFill>
        <p:spPr>
          <a:xfrm>
            <a:off x="7467638" y="1374887"/>
            <a:ext cx="445300" cy="445300"/>
          </a:xfrm>
          <a:prstGeom prst="rect">
            <a:avLst/>
          </a:prstGeom>
          <a:noFill/>
          <a:ln>
            <a:noFill/>
          </a:ln>
        </p:spPr>
      </p:pic>
      <p:pic>
        <p:nvPicPr>
          <p:cNvPr id="161" name="Google Shape;161;p23" title="hindi_audio2.wav">
            <a:hlinkClick r:id="rId5"/>
          </p:cNvPr>
          <p:cNvPicPr preferRelativeResize="0"/>
          <p:nvPr/>
        </p:nvPicPr>
        <p:blipFill>
          <a:blip r:embed="rId4">
            <a:alphaModFix/>
          </a:blip>
          <a:stretch>
            <a:fillRect/>
          </a:stretch>
        </p:blipFill>
        <p:spPr>
          <a:xfrm>
            <a:off x="7467650" y="1910075"/>
            <a:ext cx="445275" cy="445275"/>
          </a:xfrm>
          <a:prstGeom prst="rect">
            <a:avLst/>
          </a:prstGeom>
          <a:noFill/>
          <a:ln>
            <a:noFill/>
          </a:ln>
        </p:spPr>
      </p:pic>
      <p:pic>
        <p:nvPicPr>
          <p:cNvPr id="162" name="Google Shape;162;p23" title="hindi_audio3.wav">
            <a:hlinkClick r:id="rId6"/>
          </p:cNvPr>
          <p:cNvPicPr preferRelativeResize="0"/>
          <p:nvPr/>
        </p:nvPicPr>
        <p:blipFill>
          <a:blip r:embed="rId4">
            <a:alphaModFix/>
          </a:blip>
          <a:stretch>
            <a:fillRect/>
          </a:stretch>
        </p:blipFill>
        <p:spPr>
          <a:xfrm>
            <a:off x="7467650" y="2445250"/>
            <a:ext cx="445275" cy="445275"/>
          </a:xfrm>
          <a:prstGeom prst="rect">
            <a:avLst/>
          </a:prstGeom>
          <a:noFill/>
          <a:ln>
            <a:noFill/>
          </a:ln>
        </p:spPr>
      </p:pic>
      <p:pic>
        <p:nvPicPr>
          <p:cNvPr id="163" name="Google Shape;163;p23" title="hindi_audio4.wav">
            <a:hlinkClick r:id="rId7"/>
          </p:cNvPr>
          <p:cNvPicPr preferRelativeResize="0"/>
          <p:nvPr/>
        </p:nvPicPr>
        <p:blipFill>
          <a:blip r:embed="rId4">
            <a:alphaModFix/>
          </a:blip>
          <a:stretch>
            <a:fillRect/>
          </a:stretch>
        </p:blipFill>
        <p:spPr>
          <a:xfrm>
            <a:off x="7467650" y="2890525"/>
            <a:ext cx="445275" cy="445275"/>
          </a:xfrm>
          <a:prstGeom prst="rect">
            <a:avLst/>
          </a:prstGeom>
          <a:noFill/>
          <a:ln>
            <a:noFill/>
          </a:ln>
        </p:spPr>
      </p:pic>
      <p:pic>
        <p:nvPicPr>
          <p:cNvPr id="164" name="Google Shape;164;p23" title="hindi_audio5.wav">
            <a:hlinkClick r:id="rId8"/>
          </p:cNvPr>
          <p:cNvPicPr preferRelativeResize="0"/>
          <p:nvPr/>
        </p:nvPicPr>
        <p:blipFill>
          <a:blip r:embed="rId4">
            <a:alphaModFix/>
          </a:blip>
          <a:stretch>
            <a:fillRect/>
          </a:stretch>
        </p:blipFill>
        <p:spPr>
          <a:xfrm>
            <a:off x="7467650" y="3760000"/>
            <a:ext cx="445275" cy="445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nvSpPr>
        <p:spPr>
          <a:xfrm>
            <a:off x="720000" y="177150"/>
            <a:ext cx="770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solidFill>
                  <a:srgbClr val="191919"/>
                </a:solidFill>
                <a:latin typeface="Montserrat"/>
                <a:ea typeface="Montserrat"/>
                <a:cs typeface="Montserrat"/>
                <a:sym typeface="Montserrat"/>
              </a:rPr>
              <a:t>Results : Emotions</a:t>
            </a:r>
            <a:endParaRPr b="1" sz="3000">
              <a:solidFill>
                <a:srgbClr val="191919"/>
              </a:solidFill>
              <a:latin typeface="Montserrat"/>
              <a:ea typeface="Montserrat"/>
              <a:cs typeface="Montserrat"/>
              <a:sym typeface="Montserrat"/>
            </a:endParaRPr>
          </a:p>
        </p:txBody>
      </p:sp>
      <p:graphicFrame>
        <p:nvGraphicFramePr>
          <p:cNvPr id="170" name="Google Shape;170;p24"/>
          <p:cNvGraphicFramePr/>
          <p:nvPr/>
        </p:nvGraphicFramePr>
        <p:xfrm>
          <a:off x="952500" y="956450"/>
          <a:ext cx="3000000" cy="3000000"/>
        </p:xfrm>
        <a:graphic>
          <a:graphicData uri="http://schemas.openxmlformats.org/drawingml/2006/table">
            <a:tbl>
              <a:tblPr>
                <a:noFill/>
                <a:tableStyleId>{694523B5-A34C-4306-8460-BE439DEF8E00}</a:tableStyleId>
              </a:tblPr>
              <a:tblGrid>
                <a:gridCol w="3569350"/>
                <a:gridCol w="2596100"/>
                <a:gridCol w="1073550"/>
              </a:tblGrid>
              <a:tr h="381000">
                <a:tc>
                  <a:txBody>
                    <a:bodyPr/>
                    <a:lstStyle/>
                    <a:p>
                      <a:pPr indent="0" lvl="0" marL="0" rtl="0" algn="ctr">
                        <a:spcBef>
                          <a:spcPts val="0"/>
                        </a:spcBef>
                        <a:spcAft>
                          <a:spcPts val="0"/>
                        </a:spcAft>
                        <a:buNone/>
                      </a:pPr>
                      <a:r>
                        <a:rPr b="1" lang="en-GB"/>
                        <a:t>Prompt</a:t>
                      </a:r>
                      <a:endParaRPr b="1"/>
                    </a:p>
                  </a:txBody>
                  <a:tcPr marT="91425" marB="91425" marR="91425" marL="91425"/>
                </a:tc>
                <a:tc>
                  <a:txBody>
                    <a:bodyPr/>
                    <a:lstStyle/>
                    <a:p>
                      <a:pPr indent="0" lvl="0" marL="0" rtl="0" algn="ctr">
                        <a:spcBef>
                          <a:spcPts val="0"/>
                        </a:spcBef>
                        <a:spcAft>
                          <a:spcPts val="0"/>
                        </a:spcAft>
                        <a:buNone/>
                      </a:pPr>
                      <a:r>
                        <a:rPr b="1" lang="en-GB"/>
                        <a:t>Description</a:t>
                      </a:r>
                      <a:endParaRPr b="1"/>
                    </a:p>
                  </a:txBody>
                  <a:tcPr marT="91425" marB="91425" marR="91425" marL="91425"/>
                </a:tc>
                <a:tc>
                  <a:txBody>
                    <a:bodyPr/>
                    <a:lstStyle/>
                    <a:p>
                      <a:pPr indent="0" lvl="0" marL="0" rtl="0" algn="ctr">
                        <a:spcBef>
                          <a:spcPts val="0"/>
                        </a:spcBef>
                        <a:spcAft>
                          <a:spcPts val="0"/>
                        </a:spcAft>
                        <a:buNone/>
                      </a:pPr>
                      <a:r>
                        <a:rPr b="1" lang="en-GB"/>
                        <a:t>Audio</a:t>
                      </a:r>
                      <a:endParaRPr b="1"/>
                    </a:p>
                  </a:txBody>
                  <a:tcPr marT="91425" marB="91425" marR="91425" marL="91425"/>
                </a:tc>
              </a:tr>
              <a:tr h="381000">
                <a:tc>
                  <a:txBody>
                    <a:bodyPr/>
                    <a:lstStyle/>
                    <a:p>
                      <a:pPr indent="0" lvl="0" marL="0" rtl="0" algn="l">
                        <a:lnSpc>
                          <a:spcPct val="115000"/>
                        </a:lnSpc>
                        <a:spcBef>
                          <a:spcPts val="0"/>
                        </a:spcBef>
                        <a:spcAft>
                          <a:spcPts val="0"/>
                        </a:spcAft>
                        <a:buNone/>
                      </a:pPr>
                      <a:r>
                        <a:rPr lang="en-GB"/>
                        <a:t>Keep this between us, no else can know about this in any way.</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quietly in a </a:t>
                      </a:r>
                      <a:r>
                        <a:rPr b="1" lang="en-GB"/>
                        <a:t>whisper</a:t>
                      </a:r>
                      <a:r>
                        <a:rPr lang="en-GB"/>
                        <a:t>.</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Keep this between us, no one else can know about this in any way.</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with clear and articulate </a:t>
                      </a:r>
                      <a:r>
                        <a:rPr b="1" lang="en-GB"/>
                        <a:t>enunciation</a:t>
                      </a:r>
                      <a:r>
                        <a:rPr lang="en-GB"/>
                        <a:t>.</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The day I lost my mom, I have never been the same again. It's been rough.</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with a </a:t>
                      </a:r>
                      <a:r>
                        <a:rPr b="1" lang="en-GB"/>
                        <a:t>sad</a:t>
                      </a:r>
                      <a:r>
                        <a:rPr lang="en-GB"/>
                        <a:t> tone.</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Keep this between us, no one else can know about this in any way.</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with a </a:t>
                      </a:r>
                      <a:r>
                        <a:rPr b="1" lang="en-GB"/>
                        <a:t>neutral</a:t>
                      </a:r>
                      <a:r>
                        <a:rPr lang="en-GB"/>
                        <a:t> tone with no particular emotion in normal speed.</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71" name="Google Shape;171;p24" title="whisper.wav">
            <a:hlinkClick r:id="rId3"/>
          </p:cNvPr>
          <p:cNvPicPr preferRelativeResize="0"/>
          <p:nvPr/>
        </p:nvPicPr>
        <p:blipFill>
          <a:blip r:embed="rId4">
            <a:alphaModFix/>
          </a:blip>
          <a:stretch>
            <a:fillRect/>
          </a:stretch>
        </p:blipFill>
        <p:spPr>
          <a:xfrm>
            <a:off x="7427125" y="1447225"/>
            <a:ext cx="457200" cy="457200"/>
          </a:xfrm>
          <a:prstGeom prst="rect">
            <a:avLst/>
          </a:prstGeom>
          <a:noFill/>
          <a:ln>
            <a:noFill/>
          </a:ln>
        </p:spPr>
      </p:pic>
      <p:pic>
        <p:nvPicPr>
          <p:cNvPr id="172" name="Google Shape;172;p24" title="enunciation.wav">
            <a:hlinkClick r:id="rId5"/>
          </p:cNvPr>
          <p:cNvPicPr preferRelativeResize="0"/>
          <p:nvPr/>
        </p:nvPicPr>
        <p:blipFill>
          <a:blip r:embed="rId4">
            <a:alphaModFix/>
          </a:blip>
          <a:stretch>
            <a:fillRect/>
          </a:stretch>
        </p:blipFill>
        <p:spPr>
          <a:xfrm>
            <a:off x="7427125" y="2102075"/>
            <a:ext cx="457200" cy="457200"/>
          </a:xfrm>
          <a:prstGeom prst="rect">
            <a:avLst/>
          </a:prstGeom>
          <a:noFill/>
          <a:ln>
            <a:noFill/>
          </a:ln>
        </p:spPr>
      </p:pic>
      <p:pic>
        <p:nvPicPr>
          <p:cNvPr id="173" name="Google Shape;173;p24" title="neutral.wav">
            <a:hlinkClick r:id="rId6"/>
          </p:cNvPr>
          <p:cNvPicPr preferRelativeResize="0"/>
          <p:nvPr/>
        </p:nvPicPr>
        <p:blipFill>
          <a:blip r:embed="rId4">
            <a:alphaModFix/>
          </a:blip>
          <a:stretch>
            <a:fillRect/>
          </a:stretch>
        </p:blipFill>
        <p:spPr>
          <a:xfrm>
            <a:off x="7427125" y="3495075"/>
            <a:ext cx="457200" cy="457200"/>
          </a:xfrm>
          <a:prstGeom prst="rect">
            <a:avLst/>
          </a:prstGeom>
          <a:noFill/>
          <a:ln>
            <a:noFill/>
          </a:ln>
        </p:spPr>
      </p:pic>
      <p:pic>
        <p:nvPicPr>
          <p:cNvPr id="174" name="Google Shape;174;p24" title="sad.wav">
            <a:hlinkClick r:id="rId7"/>
          </p:cNvPr>
          <p:cNvPicPr preferRelativeResize="0"/>
          <p:nvPr/>
        </p:nvPicPr>
        <p:blipFill>
          <a:blip r:embed="rId4">
            <a:alphaModFix/>
          </a:blip>
          <a:stretch>
            <a:fillRect/>
          </a:stretch>
        </p:blipFill>
        <p:spPr>
          <a:xfrm>
            <a:off x="7427125" y="2756925"/>
            <a:ext cx="457200" cy="45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nvSpPr>
        <p:spPr>
          <a:xfrm>
            <a:off x="720000" y="177150"/>
            <a:ext cx="770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solidFill>
                  <a:srgbClr val="191919"/>
                </a:solidFill>
                <a:latin typeface="Montserrat"/>
                <a:ea typeface="Montserrat"/>
                <a:cs typeface="Montserrat"/>
                <a:sym typeface="Montserrat"/>
              </a:rPr>
              <a:t>Results : Emotions</a:t>
            </a:r>
            <a:endParaRPr b="1" sz="3000">
              <a:solidFill>
                <a:srgbClr val="191919"/>
              </a:solidFill>
              <a:latin typeface="Montserrat"/>
              <a:ea typeface="Montserrat"/>
              <a:cs typeface="Montserrat"/>
              <a:sym typeface="Montserrat"/>
            </a:endParaRPr>
          </a:p>
        </p:txBody>
      </p:sp>
      <p:graphicFrame>
        <p:nvGraphicFramePr>
          <p:cNvPr id="180" name="Google Shape;180;p25"/>
          <p:cNvGraphicFramePr/>
          <p:nvPr/>
        </p:nvGraphicFramePr>
        <p:xfrm>
          <a:off x="952500" y="956450"/>
          <a:ext cx="3000000" cy="3000000"/>
        </p:xfrm>
        <a:graphic>
          <a:graphicData uri="http://schemas.openxmlformats.org/drawingml/2006/table">
            <a:tbl>
              <a:tblPr>
                <a:noFill/>
                <a:tableStyleId>{694523B5-A34C-4306-8460-BE439DEF8E00}</a:tableStyleId>
              </a:tblPr>
              <a:tblGrid>
                <a:gridCol w="3550000"/>
                <a:gridCol w="2615450"/>
                <a:gridCol w="1073550"/>
              </a:tblGrid>
              <a:tr h="381000">
                <a:tc>
                  <a:txBody>
                    <a:bodyPr/>
                    <a:lstStyle/>
                    <a:p>
                      <a:pPr indent="0" lvl="0" marL="0" rtl="0" algn="ctr">
                        <a:spcBef>
                          <a:spcPts val="0"/>
                        </a:spcBef>
                        <a:spcAft>
                          <a:spcPts val="0"/>
                        </a:spcAft>
                        <a:buNone/>
                      </a:pPr>
                      <a:r>
                        <a:rPr b="1" lang="en-GB"/>
                        <a:t>Prompt</a:t>
                      </a:r>
                      <a:endParaRPr b="1"/>
                    </a:p>
                  </a:txBody>
                  <a:tcPr marT="91425" marB="91425" marR="91425" marL="91425"/>
                </a:tc>
                <a:tc>
                  <a:txBody>
                    <a:bodyPr/>
                    <a:lstStyle/>
                    <a:p>
                      <a:pPr indent="0" lvl="0" marL="0" rtl="0" algn="ctr">
                        <a:spcBef>
                          <a:spcPts val="0"/>
                        </a:spcBef>
                        <a:spcAft>
                          <a:spcPts val="0"/>
                        </a:spcAft>
                        <a:buNone/>
                      </a:pPr>
                      <a:r>
                        <a:rPr b="1" lang="en-GB"/>
                        <a:t>Description</a:t>
                      </a:r>
                      <a:endParaRPr b="1"/>
                    </a:p>
                  </a:txBody>
                  <a:tcPr marT="91425" marB="91425" marR="91425" marL="91425"/>
                </a:tc>
                <a:tc>
                  <a:txBody>
                    <a:bodyPr/>
                    <a:lstStyle/>
                    <a:p>
                      <a:pPr indent="0" lvl="0" marL="0" rtl="0" algn="ctr">
                        <a:spcBef>
                          <a:spcPts val="0"/>
                        </a:spcBef>
                        <a:spcAft>
                          <a:spcPts val="0"/>
                        </a:spcAft>
                        <a:buNone/>
                      </a:pPr>
                      <a:r>
                        <a:rPr b="1" lang="en-GB"/>
                        <a:t>Audio</a:t>
                      </a:r>
                      <a:endParaRPr b="1"/>
                    </a:p>
                  </a:txBody>
                  <a:tcPr marT="91425" marB="91425" marR="91425" marL="91425"/>
                </a:tc>
              </a:tr>
              <a:tr h="381000">
                <a:tc>
                  <a:txBody>
                    <a:bodyPr/>
                    <a:lstStyle/>
                    <a:p>
                      <a:pPr indent="0" lvl="0" marL="0" rtl="0" algn="l">
                        <a:lnSpc>
                          <a:spcPct val="115000"/>
                        </a:lnSpc>
                        <a:spcBef>
                          <a:spcPts val="0"/>
                        </a:spcBef>
                        <a:spcAft>
                          <a:spcPts val="0"/>
                        </a:spcAft>
                        <a:buNone/>
                      </a:pPr>
                      <a:r>
                        <a:rPr lang="en-GB"/>
                        <a:t>Dude the way he delivered was hilarious. &lt;laugh&gt; Totally cracked me up.</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with </a:t>
                      </a:r>
                      <a:r>
                        <a:rPr b="1" lang="en-GB"/>
                        <a:t>laughter</a:t>
                      </a:r>
                      <a:r>
                        <a:rPr lang="en-GB"/>
                        <a:t> in his voice.</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Did you mean base of the primary section or the whole structure? I am sorry I didn't really understand.</a:t>
                      </a:r>
                      <a:endParaRPr/>
                    </a:p>
                  </a:txBody>
                  <a:tcPr marT="91425" marB="91425" marR="91425" marL="91425"/>
                </a:tc>
                <a:tc>
                  <a:txBody>
                    <a:bodyPr/>
                    <a:lstStyle/>
                    <a:p>
                      <a:pPr indent="0" lvl="0" marL="0" rtl="0" algn="l">
                        <a:lnSpc>
                          <a:spcPct val="115000"/>
                        </a:lnSpc>
                        <a:spcBef>
                          <a:spcPts val="0"/>
                        </a:spcBef>
                        <a:spcAft>
                          <a:spcPts val="0"/>
                        </a:spcAft>
                        <a:buNone/>
                      </a:pPr>
                      <a:r>
                        <a:rPr lang="en-GB"/>
                        <a:t>Thomas speaks in a </a:t>
                      </a:r>
                      <a:r>
                        <a:rPr b="1" lang="en-GB"/>
                        <a:t>confused</a:t>
                      </a:r>
                      <a:r>
                        <a:rPr lang="en-GB"/>
                        <a:t> tone with confusion in his voice.</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I just adopted a golden retriever. It has been the best decision of my life.</a:t>
                      </a:r>
                      <a:endParaRPr/>
                    </a:p>
                  </a:txBody>
                  <a:tcPr marT="91425" marB="91425" marR="91425" marL="91425"/>
                </a:tc>
                <a:tc>
                  <a:txBody>
                    <a:bodyPr/>
                    <a:lstStyle/>
                    <a:p>
                      <a:pPr indent="0" lvl="0" marL="0" rtl="0" algn="l">
                        <a:lnSpc>
                          <a:spcPct val="115000"/>
                        </a:lnSpc>
                        <a:spcBef>
                          <a:spcPts val="0"/>
                        </a:spcBef>
                        <a:spcAft>
                          <a:spcPts val="0"/>
                        </a:spcAft>
                        <a:buNone/>
                      </a:pPr>
                      <a:r>
                        <a:rPr lang="en-GB"/>
                        <a:t>Thomas expresses joyfully with </a:t>
                      </a:r>
                      <a:r>
                        <a:rPr b="1" lang="en-GB"/>
                        <a:t>happiness</a:t>
                      </a:r>
                      <a:r>
                        <a:rPr lang="en-GB"/>
                        <a:t> in his speech.</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lnSpc>
                          <a:spcPct val="115000"/>
                        </a:lnSpc>
                        <a:spcBef>
                          <a:spcPts val="0"/>
                        </a:spcBef>
                        <a:spcAft>
                          <a:spcPts val="0"/>
                        </a:spcAft>
                        <a:buNone/>
                      </a:pPr>
                      <a:r>
                        <a:rPr lang="en-GB"/>
                        <a:t>When will you reach here it's been *TOO* long.</a:t>
                      </a:r>
                      <a:endParaRPr/>
                    </a:p>
                  </a:txBody>
                  <a:tcPr marT="91425" marB="91425" marR="91425" marL="91425"/>
                </a:tc>
                <a:tc>
                  <a:txBody>
                    <a:bodyPr/>
                    <a:lstStyle/>
                    <a:p>
                      <a:pPr indent="0" lvl="0" marL="0" rtl="0" algn="l">
                        <a:lnSpc>
                          <a:spcPct val="115000"/>
                        </a:lnSpc>
                        <a:spcBef>
                          <a:spcPts val="0"/>
                        </a:spcBef>
                        <a:spcAft>
                          <a:spcPts val="0"/>
                        </a:spcAft>
                        <a:buNone/>
                      </a:pPr>
                      <a:r>
                        <a:rPr lang="en-GB"/>
                        <a:t>Thomas expresses importance through his speech with </a:t>
                      </a:r>
                      <a:r>
                        <a:rPr b="1" lang="en-GB"/>
                        <a:t>emphasis</a:t>
                      </a:r>
                      <a:r>
                        <a:rPr lang="en-GB"/>
                        <a:t>.</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81" name="Google Shape;181;p25" title="laughing.wav">
            <a:hlinkClick r:id="rId3"/>
          </p:cNvPr>
          <p:cNvPicPr preferRelativeResize="0"/>
          <p:nvPr/>
        </p:nvPicPr>
        <p:blipFill>
          <a:blip r:embed="rId4">
            <a:alphaModFix/>
          </a:blip>
          <a:stretch>
            <a:fillRect/>
          </a:stretch>
        </p:blipFill>
        <p:spPr>
          <a:xfrm>
            <a:off x="7450925" y="1454475"/>
            <a:ext cx="429100" cy="429100"/>
          </a:xfrm>
          <a:prstGeom prst="rect">
            <a:avLst/>
          </a:prstGeom>
          <a:noFill/>
          <a:ln>
            <a:noFill/>
          </a:ln>
        </p:spPr>
      </p:pic>
      <p:pic>
        <p:nvPicPr>
          <p:cNvPr id="182" name="Google Shape;182;p25" title="confused.wav">
            <a:hlinkClick r:id="rId5"/>
          </p:cNvPr>
          <p:cNvPicPr preferRelativeResize="0"/>
          <p:nvPr/>
        </p:nvPicPr>
        <p:blipFill>
          <a:blip r:embed="rId4">
            <a:alphaModFix/>
          </a:blip>
          <a:stretch>
            <a:fillRect/>
          </a:stretch>
        </p:blipFill>
        <p:spPr>
          <a:xfrm>
            <a:off x="7450925" y="2216475"/>
            <a:ext cx="429100" cy="429100"/>
          </a:xfrm>
          <a:prstGeom prst="rect">
            <a:avLst/>
          </a:prstGeom>
          <a:noFill/>
          <a:ln>
            <a:noFill/>
          </a:ln>
        </p:spPr>
      </p:pic>
      <p:pic>
        <p:nvPicPr>
          <p:cNvPr id="183" name="Google Shape;183;p25" title="happy.wav">
            <a:hlinkClick r:id="rId6"/>
          </p:cNvPr>
          <p:cNvPicPr preferRelativeResize="0"/>
          <p:nvPr/>
        </p:nvPicPr>
        <p:blipFill>
          <a:blip r:embed="rId4">
            <a:alphaModFix/>
          </a:blip>
          <a:stretch>
            <a:fillRect/>
          </a:stretch>
        </p:blipFill>
        <p:spPr>
          <a:xfrm>
            <a:off x="7450925" y="2978475"/>
            <a:ext cx="429100" cy="429100"/>
          </a:xfrm>
          <a:prstGeom prst="rect">
            <a:avLst/>
          </a:prstGeom>
          <a:noFill/>
          <a:ln>
            <a:noFill/>
          </a:ln>
        </p:spPr>
      </p:pic>
      <p:pic>
        <p:nvPicPr>
          <p:cNvPr id="184" name="Google Shape;184;p25" title="emphasis.wav">
            <a:hlinkClick r:id="rId7"/>
          </p:cNvPr>
          <p:cNvPicPr preferRelativeResize="0"/>
          <p:nvPr/>
        </p:nvPicPr>
        <p:blipFill>
          <a:blip r:embed="rId4">
            <a:alphaModFix/>
          </a:blip>
          <a:stretch>
            <a:fillRect/>
          </a:stretch>
        </p:blipFill>
        <p:spPr>
          <a:xfrm>
            <a:off x="7450925" y="3740475"/>
            <a:ext cx="429100" cy="42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nvSpPr>
        <p:spPr>
          <a:xfrm>
            <a:off x="664275" y="1032063"/>
            <a:ext cx="7420200" cy="1785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Business Chatbots and AI based Customer Service</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Newspapers &amp; Blogs to increase Target Customers</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Browser Extensions for Accessibility</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Screenless Wearable Tech &amp; AI assistants</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Accent based language learning</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Cloud based TTS APIs</a:t>
            </a:r>
            <a:endParaRPr sz="1700">
              <a:solidFill>
                <a:srgbClr val="191919"/>
              </a:solidFill>
              <a:latin typeface="Times New Roman"/>
              <a:ea typeface="Times New Roman"/>
              <a:cs typeface="Times New Roman"/>
              <a:sym typeface="Times New Roman"/>
            </a:endParaRPr>
          </a:p>
          <a:p>
            <a:pPr indent="-336550" lvl="0" marL="457200" rtl="0" algn="l">
              <a:spcBef>
                <a:spcPts val="0"/>
              </a:spcBef>
              <a:spcAft>
                <a:spcPts val="0"/>
              </a:spcAft>
              <a:buClr>
                <a:srgbClr val="191919"/>
              </a:buClr>
              <a:buSzPts val="1700"/>
              <a:buFont typeface="Times New Roman"/>
              <a:buAutoNum type="arabicPeriod"/>
            </a:pPr>
            <a:r>
              <a:rPr lang="en-GB" sz="1700">
                <a:solidFill>
                  <a:srgbClr val="191919"/>
                </a:solidFill>
                <a:latin typeface="Times New Roman"/>
                <a:ea typeface="Times New Roman"/>
                <a:cs typeface="Times New Roman"/>
                <a:sym typeface="Times New Roman"/>
              </a:rPr>
              <a:t>Transcript based Multilingual Music Verse/Speech Generation on YouTube </a:t>
            </a:r>
            <a:endParaRPr sz="1700">
              <a:solidFill>
                <a:srgbClr val="191919"/>
              </a:solidFill>
              <a:latin typeface="Times New Roman"/>
              <a:ea typeface="Times New Roman"/>
              <a:cs typeface="Times New Roman"/>
              <a:sym typeface="Times New Roman"/>
            </a:endParaRPr>
          </a:p>
        </p:txBody>
      </p:sp>
      <p:pic>
        <p:nvPicPr>
          <p:cNvPr id="190" name="Google Shape;190;p26"/>
          <p:cNvPicPr preferRelativeResize="0"/>
          <p:nvPr/>
        </p:nvPicPr>
        <p:blipFill rotWithShape="1">
          <a:blip r:embed="rId3">
            <a:alphaModFix/>
          </a:blip>
          <a:srcRect b="0" l="0" r="0" t="0"/>
          <a:stretch/>
        </p:blipFill>
        <p:spPr>
          <a:xfrm>
            <a:off x="1469812" y="3100825"/>
            <a:ext cx="5809126" cy="1663000"/>
          </a:xfrm>
          <a:prstGeom prst="rect">
            <a:avLst/>
          </a:prstGeom>
          <a:noFill/>
          <a:ln cap="flat" cmpd="sng" w="9525">
            <a:solidFill>
              <a:srgbClr val="191919"/>
            </a:solidFill>
            <a:prstDash val="solid"/>
            <a:round/>
            <a:headEnd len="sm" w="sm" type="none"/>
            <a:tailEnd len="sm" w="sm" type="none"/>
          </a:ln>
        </p:spPr>
      </p:pic>
      <p:sp>
        <p:nvSpPr>
          <p:cNvPr id="191" name="Google Shape;191;p26"/>
          <p:cNvSpPr txBox="1"/>
          <p:nvPr/>
        </p:nvSpPr>
        <p:spPr>
          <a:xfrm>
            <a:off x="522375" y="35917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600">
                <a:solidFill>
                  <a:srgbClr val="191919"/>
                </a:solidFill>
                <a:latin typeface="Montserrat"/>
                <a:ea typeface="Montserrat"/>
                <a:cs typeface="Montserrat"/>
                <a:sym typeface="Montserrat"/>
              </a:rPr>
              <a:t>USE CASES</a:t>
            </a:r>
            <a:endParaRPr b="1" sz="2600">
              <a:solidFill>
                <a:srgbClr val="191919"/>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nvSpPr>
        <p:spPr>
          <a:xfrm>
            <a:off x="1020300" y="3726395"/>
            <a:ext cx="7103400" cy="12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191919"/>
                </a:solidFill>
                <a:latin typeface="Atkinson Hyperlegible"/>
                <a:ea typeface="Atkinson Hyperlegible"/>
                <a:cs typeface="Atkinson Hyperlegible"/>
                <a:sym typeface="Atkinson Hyperlegible"/>
              </a:rPr>
              <a:t>Open for QnA</a:t>
            </a:r>
            <a:endParaRPr sz="1800">
              <a:solidFill>
                <a:srgbClr val="191919"/>
              </a:solidFill>
              <a:latin typeface="Atkinson Hyperlegible"/>
              <a:ea typeface="Atkinson Hyperlegible"/>
              <a:cs typeface="Atkinson Hyperlegible"/>
              <a:sym typeface="Atkinson Hyperlegible"/>
            </a:endParaRPr>
          </a:p>
        </p:txBody>
      </p:sp>
      <p:sp>
        <p:nvSpPr>
          <p:cNvPr id="197" name="Google Shape;197;p27"/>
          <p:cNvSpPr txBox="1"/>
          <p:nvPr/>
        </p:nvSpPr>
        <p:spPr>
          <a:xfrm>
            <a:off x="1020300" y="1160169"/>
            <a:ext cx="7103400" cy="19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191919"/>
                </a:solidFill>
                <a:latin typeface="Atkinson Hyperlegible"/>
                <a:ea typeface="Atkinson Hyperlegible"/>
                <a:cs typeface="Atkinson Hyperlegible"/>
                <a:sym typeface="Atkinson Hyperlegible"/>
              </a:rPr>
              <a:t>The Text-To-Speech as a service market is huge and is Growing rapidly as people’s attention span decreases, wearables like Meta Glasses become more common, and language as a barrier becomes thinner and thinner. This creates a huge gap in the Indian Market where there is a lack of authentic accent-oriented Indic language Text-to-Speech models. We aim to cater to this market by working and improving upon our work so far.</a:t>
            </a:r>
            <a:endParaRPr sz="1700">
              <a:solidFill>
                <a:srgbClr val="191919"/>
              </a:solidFill>
              <a:latin typeface="Atkinson Hyperlegible"/>
              <a:ea typeface="Atkinson Hyperlegible"/>
              <a:cs typeface="Atkinson Hyperlegible"/>
              <a:sym typeface="Atkinson Hyperlegible"/>
            </a:endParaRPr>
          </a:p>
        </p:txBody>
      </p:sp>
      <p:sp>
        <p:nvSpPr>
          <p:cNvPr id="198" name="Google Shape;198;p27"/>
          <p:cNvSpPr txBox="1"/>
          <p:nvPr/>
        </p:nvSpPr>
        <p:spPr>
          <a:xfrm>
            <a:off x="1020300" y="406250"/>
            <a:ext cx="7103400" cy="64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2100">
                <a:solidFill>
                  <a:srgbClr val="191919"/>
                </a:solidFill>
                <a:latin typeface="Montserrat"/>
                <a:ea typeface="Montserrat"/>
                <a:cs typeface="Montserrat"/>
                <a:sym typeface="Montserrat"/>
              </a:rPr>
              <a:t>CONCLUSION</a:t>
            </a:r>
            <a:endParaRPr b="1" sz="2100">
              <a:solidFill>
                <a:srgbClr val="191919"/>
              </a:solidFill>
              <a:latin typeface="Montserrat"/>
              <a:ea typeface="Montserrat"/>
              <a:cs typeface="Montserrat"/>
              <a:sym typeface="Montserrat"/>
            </a:endParaRPr>
          </a:p>
        </p:txBody>
      </p:sp>
      <p:sp>
        <p:nvSpPr>
          <p:cNvPr id="199" name="Google Shape;199;p27"/>
          <p:cNvSpPr txBox="1"/>
          <p:nvPr/>
        </p:nvSpPr>
        <p:spPr>
          <a:xfrm>
            <a:off x="1020300" y="3245204"/>
            <a:ext cx="7103400" cy="64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2100">
                <a:solidFill>
                  <a:srgbClr val="191919"/>
                </a:solidFill>
                <a:latin typeface="Montserrat"/>
                <a:ea typeface="Montserrat"/>
                <a:cs typeface="Montserrat"/>
                <a:sym typeface="Montserrat"/>
              </a:rPr>
              <a:t>DISCUSSION</a:t>
            </a:r>
            <a:endParaRPr b="1" sz="2100">
              <a:solidFill>
                <a:srgbClr val="191919"/>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nvSpPr>
        <p:spPr>
          <a:xfrm>
            <a:off x="713225" y="300875"/>
            <a:ext cx="75099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000">
                <a:solidFill>
                  <a:srgbClr val="191919"/>
                </a:solidFill>
                <a:latin typeface="Montserrat"/>
                <a:ea typeface="Montserrat"/>
                <a:cs typeface="Montserrat"/>
                <a:sym typeface="Montserrat"/>
              </a:rPr>
              <a:t>References</a:t>
            </a:r>
            <a:endParaRPr b="1" sz="3000">
              <a:solidFill>
                <a:srgbClr val="191919"/>
              </a:solidFill>
              <a:latin typeface="Montserrat"/>
              <a:ea typeface="Montserrat"/>
              <a:cs typeface="Montserrat"/>
              <a:sym typeface="Montserrat"/>
            </a:endParaRPr>
          </a:p>
        </p:txBody>
      </p:sp>
      <p:sp>
        <p:nvSpPr>
          <p:cNvPr id="205" name="Google Shape;205;p28"/>
          <p:cNvSpPr txBox="1"/>
          <p:nvPr/>
        </p:nvSpPr>
        <p:spPr>
          <a:xfrm>
            <a:off x="713225" y="983500"/>
            <a:ext cx="7509900" cy="3561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191919"/>
              </a:buClr>
              <a:buSzPts val="1300"/>
              <a:buFont typeface="Atkinson Hyperlegible"/>
              <a:buChar char="●"/>
            </a:pPr>
            <a:r>
              <a:rPr lang="en-GB" sz="1300" u="sng">
                <a:solidFill>
                  <a:srgbClr val="191919"/>
                </a:solidFill>
                <a:latin typeface="Atkinson Hyperlegible"/>
                <a:ea typeface="Atkinson Hyperlegible"/>
                <a:cs typeface="Atkinson Hyperlegible"/>
                <a:sym typeface="Atkinson Hyperlegible"/>
                <a:hlinkClick r:id="rId3">
                  <a:extLst>
                    <a:ext uri="{A12FA001-AC4F-418D-AE19-62706E023703}">
                      <ahyp:hlinkClr val="tx"/>
                    </a:ext>
                  </a:extLst>
                </a:hlinkClick>
              </a:rPr>
              <a:t>Link to Drive</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000000"/>
              </a:buClr>
              <a:buSzPts val="1300"/>
              <a:buFont typeface="Atkinson Hyperlegible"/>
              <a:buChar char="●"/>
            </a:pPr>
            <a:r>
              <a:rPr lang="en-GB" sz="1300" u="sng">
                <a:latin typeface="Atkinson Hyperlegible"/>
                <a:ea typeface="Atkinson Hyperlegible"/>
                <a:cs typeface="Atkinson Hyperlegible"/>
                <a:sym typeface="Atkinson Hyperlegible"/>
                <a:hlinkClick r:id="rId4"/>
              </a:rPr>
              <a:t>https://huggingface.co/En1gma02</a:t>
            </a:r>
            <a:r>
              <a:rPr lang="en-GB" sz="1300">
                <a:latin typeface="Atkinson Hyperlegible"/>
                <a:ea typeface="Atkinson Hyperlegible"/>
                <a:cs typeface="Atkinson Hyperlegible"/>
                <a:sym typeface="Atkinson Hyperlegible"/>
              </a:rPr>
              <a:t> </a:t>
            </a:r>
            <a:endParaRPr sz="1300">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Lyth, Dan, and Simon King. "Natural language guidance of high-fidelity text-to-speech with synthetic annotations." arXiv preprint arXiv:2402.01912 (2024).</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Qin, Zengyi, Wenliang Zhao, Xumin Yu, and Xin Sun. "Openvoice: Versatile instant voice cloning." arXiv preprint arXiv:2312.01479 (2023).</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Ao, Junyi, Rui Wang, Long Zhou, Chengyi Wang, Shuo Ren, Yu Wu, Shujie Liu et al. "Speecht5: Unified-modal encoder-decoder pre-training for spoken language processing." arXiv preprint arXiv:2110.07205 (2021).</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Malatji, P. T., M. J. D. Manamela, T. J. Sefara, T. Sefara, and P. Malatji. "Creating accented text-to-speech English voices to facilitate second language learning." In South Africa International Conference on Educational Technologies. 2016.</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Zhu, Xinfa, Yi Lei, Tao Li, Yongmao Zhang, Hongbin Zhou, Heng Lu, and Lei Xie. "Metts: Multilingual emotional text-to-speech by cross-speaker and cross-lingual emotion transfer." IEEE/ACM Transactions on Audio, Speech, and Language Processing (2024).</a:t>
            </a:r>
            <a:endParaRPr sz="1300">
              <a:solidFill>
                <a:srgbClr val="191919"/>
              </a:solidFill>
              <a:latin typeface="Atkinson Hyperlegible"/>
              <a:ea typeface="Atkinson Hyperlegible"/>
              <a:cs typeface="Atkinson Hyperlegible"/>
              <a:sym typeface="Atkinson Hyperlegible"/>
            </a:endParaRPr>
          </a:p>
          <a:p>
            <a:pPr indent="-311150" lvl="0" marL="457200" rtl="0" algn="l">
              <a:spcBef>
                <a:spcPts val="0"/>
              </a:spcBef>
              <a:spcAft>
                <a:spcPts val="0"/>
              </a:spcAft>
              <a:buClr>
                <a:srgbClr val="191919"/>
              </a:buClr>
              <a:buSzPts val="1300"/>
              <a:buFont typeface="Atkinson Hyperlegible"/>
              <a:buChar char="●"/>
            </a:pPr>
            <a:r>
              <a:rPr lang="en-GB" sz="1300">
                <a:solidFill>
                  <a:srgbClr val="191919"/>
                </a:solidFill>
                <a:latin typeface="Atkinson Hyperlegible"/>
                <a:ea typeface="Atkinson Hyperlegible"/>
                <a:cs typeface="Atkinson Hyperlegible"/>
                <a:sym typeface="Atkinson Hyperlegible"/>
              </a:rPr>
              <a:t>Ning, Yishuang, Sheng He, Zhiyong Wu, Chunxiao Xing, and Liang-Jie Zhang. "A review of deep learning based speech synthesis." Applied Sciences 9, no. 19 (2019): 4050.</a:t>
            </a:r>
            <a:endParaRPr sz="1300">
              <a:solidFill>
                <a:srgbClr val="191919"/>
              </a:solidFill>
              <a:latin typeface="Atkinson Hyperlegible"/>
              <a:ea typeface="Atkinson Hyperlegible"/>
              <a:cs typeface="Atkinson Hyperlegible"/>
              <a:sym typeface="Atkinson Hyperlegibl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